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circa două ori mai mult decât WordNet-ul englez procesat la fel. Setul minim: între 6,193 și 6,325 cuvinte, adică aproape zece procente, de circa patru ori mai mult decât WordNet procesat la fel (și de zece ori față de cifrele publicate pentru engleză). Limitele sunt demonstrate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exact aceeași procedură pe WordNet și pe Wiktionary-urile a 11 limbi. Peste tot, setul minim ocupă 10–17% din nucleu; în DEX ocupă 28%. Wiktionary-ul românesc seamănă cu DEX-ul, dar 70% din definițiile lui sunt copiate din DEX. Deci nucleul mare ține de felul în care definește DEX-ul, nu de faptul că româna e limbă romanică.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circa patru ori mai mult decât WordNet procesat la fel,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A graph-theoretic analysis of dictionary definitions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expert hypothesis.</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sare</a:t>
            </a:r>
            <a:r>
              <a:rPr sz="2000" b="0">
                <a:solidFill>
                  <a:srgbClr val="0B0B0B"/>
                </a:solidFill>
                <a:latin typeface="Calibri"/>
              </a:rPr>
              <a:t> → sare ‘salt’ or sări ‘jump’?   </a:t>
            </a:r>
            <a:r>
              <a:rPr sz="2000" b="0" i="1">
                <a:solidFill>
                  <a:srgbClr val="0B0B0B"/>
                </a:solidFill>
                <a:latin typeface="Calibri"/>
              </a:rPr>
              <a:t>fire</a:t>
            </a:r>
            <a:r>
              <a:rPr sz="2000" b="0">
                <a:solidFill>
                  <a:srgbClr val="0B0B0B"/>
                </a:solidFill>
                <a:latin typeface="Calibri"/>
              </a:rPr>
              <a:t> → fir ‘thread’, fire ‘nature’ or fi ‘be’?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493759"/>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COMPARISON, SAME PROCEDURE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stands apart from 11 other languages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5_crossling.png"/>
          <p:cNvPicPr>
            <a:picLocks noChangeAspect="1"/>
          </p:cNvPicPr>
          <p:nvPr/>
        </p:nvPicPr>
        <p:blipFill>
          <a:blip r:embed="rId3"/>
          <a:stretch>
            <a:fillRect/>
          </a:stretch>
        </p:blipFill>
        <p:spPr>
          <a:xfrm>
            <a:off x="457200" y="1463040"/>
            <a:ext cx="6869303" cy="4846320"/>
          </a:xfrm>
          <a:prstGeom prst="rect">
            <a:avLst/>
          </a:prstGeom>
        </p:spPr>
      </p:pic>
      <p:sp>
        <p:nvSpPr>
          <p:cNvPr id="8" name="TextBox 7"/>
          <p:cNvSpPr txBox="1"/>
          <p:nvPr/>
        </p:nvSpPr>
        <p:spPr>
          <a:xfrm>
            <a:off x="8412480" y="1737360"/>
            <a:ext cx="3566160" cy="4206240"/>
          </a:xfrm>
          <a:prstGeom prst="rect">
            <a:avLst/>
          </a:prstGeom>
          <a:noFill/>
        </p:spPr>
        <p:txBody>
          <a:bodyPr wrap="square" anchor="t" lIns="45720" rIns="45720">
            <a:spAutoFit/>
          </a:bodyPr>
          <a:lstStyle/>
          <a:p>
            <a:pPr algn="l">
              <a:spcAft>
                <a:spcPts val="765"/>
              </a:spcAft>
            </a:pPr>
            <a:r>
              <a:rPr sz="3000" b="1" i="0">
                <a:solidFill>
                  <a:srgbClr val="2A78D6"/>
                </a:solidFill>
                <a:latin typeface="Calibri"/>
              </a:rPr>
              <a:t>28%</a:t>
            </a:r>
            <a:r>
              <a:rPr sz="1700" b="0">
                <a:solidFill>
                  <a:srgbClr val="0B0B0B"/>
                </a:solidFill>
                <a:latin typeface="Calibri"/>
              </a:rPr>
              <a:t> of the DEX Kernel is needed as MinSet</a:t>
            </a:r>
          </a:p>
          <a:p>
            <a:pPr algn="l">
              <a:spcAft>
                <a:spcPts val="765"/>
              </a:spcAft>
            </a:pPr>
            <a:r>
              <a:rPr sz="3000" b="1" i="0">
                <a:solidFill>
                  <a:srgbClr val="52514E"/>
                </a:solidFill>
                <a:latin typeface="Calibri"/>
              </a:rPr>
              <a:t>10–17%</a:t>
            </a:r>
            <a:r>
              <a:rPr sz="1700" b="0">
                <a:solidFill>
                  <a:srgbClr val="0B0B0B"/>
                </a:solidFill>
                <a:latin typeface="Calibri"/>
              </a:rPr>
              <a:t> in all other dictionaries</a:t>
            </a:r>
          </a:p>
          <a:p>
            <a:pPr algn="l">
              <a:spcAft>
                <a:spcPts val="765"/>
              </a:spcAft>
            </a:pPr>
            <a:r>
              <a:rPr sz="1700" b="0">
                <a:solidFill>
                  <a:srgbClr val="0B0B0B"/>
                </a:solidFill>
                <a:latin typeface="Calibri"/>
              </a:rPr>
              <a:t>Reciprocal pairs: 5–20 times more frequent in the DEX.</a:t>
            </a:r>
          </a:p>
          <a:p>
            <a:pPr algn="l">
              <a:spcAft>
                <a:spcPts val="765"/>
              </a:spcAft>
            </a:pPr>
            <a:r>
              <a:rPr sz="1700" b="0">
                <a:solidFill>
                  <a:srgbClr val="0B0B0B"/>
                </a:solidFill>
                <a:latin typeface="Calibri"/>
              </a:rPr>
              <a:t>Italian, Spanish, Portuguese and French behave like German or Russian: not a Romance property.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95961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352222"/>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784683"/>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437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list is supported by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dictionaries of 11 other languages processed the same way;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Romanian dictionary (the Romanian Wiktionary copies it), one edition, first senses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In the DEX the MinSet takes 28% of the Kernel, against 10–17% in 11 other languages,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