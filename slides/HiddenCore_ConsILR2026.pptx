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Bună ziua. Vă propun o întrebare simplă despre dicționar și un răspuns măsurat pe tot DEX-ul.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Cauți copac în DEX: scrie arbore. Cauți arbore: scrie copac. Dacă nu știi niciunul, rămâi în cerc. Întrebarea: câte cuvinte trebuie să știi dinainte, din experiență, ca să înțelegi tot restul doar din definiții?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Metoda lui Harnad: dicționarul devine un graf. Nucleul (Kernel) e ce rămâne după ce scoți repetat cuvintele care nu definesc nimic. MinSet e cel mai mic set de cuvinte din care poți învăța tot dicționarul. În engleză: nucleu 7–12%, MinSet circa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Graur a pus în 1954 aceeași întrebare, cu alte mijloace: 1.419 cuvinte, în trei cercuri de siguranță. El însuși spunea că importanța unui cuvânt se vede în spațiul ocupat în dicționare. Am transcris lista și am reprodus exact totalul și procentul slav de 21,49%.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sfert din formele din definiții sunt ambigue. Modelul AI citește fiecare definiție și alege lema. Îl verificăm cu un model mai puternic: 87% acord pe cuvintele de conținut. Totul a costat cât un prânz. Și refacem totul fără AI, ca să vedem dacă concluziile rezistă.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Nucleul DEX are 33% din cuvinte, de circa două ori mai mult decât WordNet-ul englez procesat la fel. Setul minim: între 6,193 și 6,325 cuvinte, adică aproape zece procente, de circa patru ori mai mult decât WordNet procesat la fel (și de zece ori față de cifrele publicate pentru engleză). Limitele sunt demonstrate cu programare liniară în numere întregi.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aplicat exact aceeași procedură pe WordNet și pe Wiktionary-urile a 11 limbi. Peste tot, setul minim ocupă 10–17% din nucleu; în DEX ocupă 28%. Wiktionary-ul românesc seamănă cu DEX-ul, dar 70% din definițiile lui sunt copiate din DEX. Deci nucleul mare ține de felul în care definește DEX-ul, nu de faptul că româna e limbă romanică.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ce? Pentru că DEX-ul definește prin sinonime. Aproape nouă mii de perechi (8.761) se definesc reciproc. Fiecare pereche te obligă să știi dinainte unul dintre cuvinte. Nu sunt greșeli: e un stil de definire. Graur însuși observase concurența arbore–copac.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Refacem tot fără AI, în două feluri. Rezultatul rămâne același: nucleu 29–36%, MinSet 7.5–10.9%. Deci concluzia nu e un artefact al modelului.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nucleul real lingvistic? 98% din lista Swadesh și 95% din lista lui Graur sunt în nucleu, față de 33% la întâmplare. Lista Swadesh este lista standard de circa 200 de sensuri de bază folosită în lingvistica comparată. Cuvintele pe care Graur le considera cele mai sigure sunt cele mai centrale: 97% în nucleu și 49% în setul minim; cele două cercuri mai largi diferă puțin între ele.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Exemplele lui Graur. A exclus arbore pentru că e în concurență cu copac; dar DEX-ul folosește arbore aproape de două ori mai des decât copac ca termen definitoriu. Preferințele dicționarului nu coincid cu uzul descris de Graur, și asta e o observație interesantă despre metalimbajul lexicografic.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nu e identitate. Cuvintele cu care DEX-ul își scrie definițiile sunt în mare parte împrumuturi savante franceze. Nucleul lui Graur e unul al stabilității; al dicționarului, unul al muncii de definire. Cuvintele rurale ale lui Graur sunt definite, dar nu definesc nimic.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Trei lucruri pentru lingviști: o hartă a circularității pentru lexicografi, un test cantitativ al unei idei clasice și o rețetă de folosire a AI-ului ca instrument verificabil.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Cât de siguri suntem: foarte siguri pe circularitate și pe concentrarea listelor de experți în nucleu; bine pe mărimea setului minim și pe poziția cuvintelor celor mai sigure ale lui Graur; orientativ pe contrastul etimologic. Limita principală: un singur dicționar.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Concluzia: o treime din DEX formează nucleul; aproximativ un cuvânt din zece trebuie știut dinainte. De circa patru ori mai mult decât WordNet procesat la fel, din cauza definițiilor prin sinonim. Mulțumesc!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640080" y="548640"/>
            <a:ext cx="2146852" cy="822960"/>
          </a:xfrm>
          <a:prstGeom prst="rect">
            <a:avLst/>
          </a:prstGeom>
        </p:spPr>
      </p:pic>
      <p:sp>
        <p:nvSpPr>
          <p:cNvPr id="3" name="TextBox 2"/>
          <p:cNvSpPr txBox="1"/>
          <p:nvPr/>
        </p:nvSpPr>
        <p:spPr>
          <a:xfrm>
            <a:off x="640080" y="1828800"/>
            <a:ext cx="10515600" cy="1463040"/>
          </a:xfrm>
          <a:prstGeom prst="rect">
            <a:avLst/>
          </a:prstGeom>
          <a:noFill/>
        </p:spPr>
        <p:txBody>
          <a:bodyPr wrap="square" anchor="t" lIns="45720" rIns="45720">
            <a:spAutoFit/>
          </a:bodyPr>
          <a:lstStyle/>
          <a:p>
            <a:pPr algn="l">
              <a:spcAft>
                <a:spcPts val="2430"/>
              </a:spcAft>
            </a:pPr>
            <a:r>
              <a:rPr sz="5400" b="1">
                <a:solidFill>
                  <a:srgbClr val="0B0B0B"/>
                </a:solidFill>
                <a:latin typeface="Calibri"/>
              </a:rPr>
              <a:t>The Hidden Core of Romanian</a:t>
            </a:r>
          </a:p>
        </p:txBody>
      </p:sp>
      <p:sp>
        <p:nvSpPr>
          <p:cNvPr id="4" name="TextBox 3"/>
          <p:cNvSpPr txBox="1"/>
          <p:nvPr/>
        </p:nvSpPr>
        <p:spPr>
          <a:xfrm>
            <a:off x="640080" y="2880360"/>
            <a:ext cx="10515600" cy="914400"/>
          </a:xfrm>
          <a:prstGeom prst="rect">
            <a:avLst/>
          </a:prstGeom>
          <a:noFill/>
        </p:spPr>
        <p:txBody>
          <a:bodyPr wrap="square" anchor="t" lIns="45720" rIns="45720">
            <a:spAutoFit/>
          </a:bodyPr>
          <a:lstStyle/>
          <a:p>
            <a:pPr algn="l">
              <a:spcAft>
                <a:spcPts val="1260"/>
              </a:spcAft>
            </a:pPr>
            <a:r>
              <a:rPr sz="2800" b="0">
                <a:solidFill>
                  <a:srgbClr val="52514E"/>
                </a:solidFill>
                <a:latin typeface="Calibri"/>
              </a:rPr>
              <a:t>A graph-theoretic analysis of dictionary definitions</a:t>
            </a:r>
          </a:p>
        </p:txBody>
      </p:sp>
      <p:sp>
        <p:nvSpPr>
          <p:cNvPr id="5" name="TextBox 4"/>
          <p:cNvSpPr txBox="1"/>
          <p:nvPr/>
        </p:nvSpPr>
        <p:spPr>
          <a:xfrm>
            <a:off x="640080" y="4206240"/>
            <a:ext cx="10515600" cy="1280160"/>
          </a:xfrm>
          <a:prstGeom prst="rect">
            <a:avLst/>
          </a:prstGeom>
          <a:noFill/>
        </p:spPr>
        <p:txBody>
          <a:bodyPr wrap="square" anchor="t" lIns="45720" rIns="45720">
            <a:spAutoFit/>
          </a:bodyPr>
          <a:lstStyle/>
          <a:p>
            <a:pPr algn="l">
              <a:spcAft>
                <a:spcPts val="810"/>
              </a:spcAft>
            </a:pPr>
            <a:r>
              <a:rPr sz="2200" b="1" i="0">
                <a:solidFill>
                  <a:srgbClr val="52514E"/>
                </a:solidFill>
                <a:latin typeface="Calibri"/>
              </a:rPr>
              <a:t>Vlad Belciug, Elena Pelican</a:t>
            </a:r>
          </a:p>
          <a:p>
            <a:pPr algn="l">
              <a:spcAft>
                <a:spcPts val="810"/>
              </a:spcAft>
            </a:pPr>
            <a:r>
              <a:rPr sz="1800" b="0">
                <a:solidFill>
                  <a:srgbClr val="52514E"/>
                </a:solidFill>
                <a:latin typeface="Calibri"/>
              </a:rPr>
              <a:t>“Ovidius” University of Constanța · Faculty of Mathematics and Informatics</a:t>
            </a:r>
          </a:p>
          <a:p>
            <a:pPr algn="l">
              <a:spcAft>
                <a:spcPts val="810"/>
              </a:spcAft>
            </a:pPr>
            <a:r>
              <a:rPr sz="1800" b="0">
                <a:solidFill>
                  <a:srgbClr val="52514E"/>
                </a:solidFill>
                <a:latin typeface="Calibri"/>
              </a:rPr>
              <a:t>ConsILR 2026 · Galați &amp; online · 9–11 December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QUESTION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A dictionary is a circle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128016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copac</a:t>
            </a:r>
          </a:p>
        </p:txBody>
      </p:sp>
      <p:sp>
        <p:nvSpPr>
          <p:cNvPr id="8" name="Rounded Rectangle 7"/>
          <p:cNvSpPr/>
          <p:nvPr/>
        </p:nvSpPr>
        <p:spPr>
          <a:xfrm>
            <a:off x="658368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arbore</a:t>
            </a:r>
          </a:p>
        </p:txBody>
      </p:sp>
      <p:cxnSp>
        <p:nvCxnSpPr>
          <p:cNvPr id="9" name="Connector 8"/>
          <p:cNvCxnSpPr/>
          <p:nvPr/>
        </p:nvCxnSpPr>
        <p:spPr>
          <a:xfrm>
            <a:off x="4206240" y="269748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97680" y="205740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“arbore”</a:t>
            </a:r>
          </a:p>
        </p:txBody>
      </p:sp>
      <p:cxnSp>
        <p:nvCxnSpPr>
          <p:cNvPr id="11" name="Connector 10"/>
          <p:cNvCxnSpPr/>
          <p:nvPr/>
        </p:nvCxnSpPr>
        <p:spPr>
          <a:xfrm flipH="1">
            <a:off x="4206240" y="324612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97680" y="338328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“copac”</a:t>
            </a:r>
          </a:p>
        </p:txBody>
      </p:sp>
      <p:sp>
        <p:nvSpPr>
          <p:cNvPr id="13" name="TextBox 12"/>
          <p:cNvSpPr txBox="1"/>
          <p:nvPr/>
        </p:nvSpPr>
        <p:spPr>
          <a:xfrm>
            <a:off x="1280160" y="4206240"/>
            <a:ext cx="9601200" cy="1645920"/>
          </a:xfrm>
          <a:prstGeom prst="rect">
            <a:avLst/>
          </a:prstGeom>
          <a:noFill/>
        </p:spPr>
        <p:txBody>
          <a:bodyPr wrap="square" anchor="t" lIns="45720" rIns="45720">
            <a:spAutoFit/>
          </a:bodyPr>
          <a:lstStyle/>
          <a:p>
            <a:pPr algn="l">
              <a:spcAft>
                <a:spcPts val="1080"/>
              </a:spcAft>
            </a:pPr>
            <a:r>
              <a:rPr sz="2400" b="1" i="0">
                <a:solidFill>
                  <a:srgbClr val="0B0B0B"/>
                </a:solidFill>
                <a:latin typeface="Calibri"/>
              </a:rPr>
              <a:t>How many words must you already know </a:t>
            </a:r>
            <a:r>
              <a:rPr sz="2400" b="1" i="0">
                <a:solidFill>
                  <a:srgbClr val="2A78D6"/>
                </a:solidFill>
                <a:latin typeface="Calibri"/>
              </a:rPr>
              <a:t>before the dictionary can teach you all the others?</a:t>
            </a:r>
          </a:p>
          <a:p>
            <a:pPr algn="l">
              <a:spcAft>
                <a:spcPts val="1080"/>
              </a:spcAft>
            </a:pPr>
            <a:r>
              <a:rPr sz="2400" b="0">
                <a:solidFill>
                  <a:srgbClr val="0B0B0B"/>
                </a:solidFill>
                <a:latin typeface="Calibri"/>
              </a:rPr>
              <a:t>Somewhere the circle must be broken by words learned from experience (the symbol grounding problem, Harnad 1990).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METHOD (VINCENT-LAMARRE, HARNAD ET AL. 2016)</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Dictionaries as graphs: Kernel, Core, MinSet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Oval 6"/>
          <p:cNvSpPr/>
          <p:nvPr/>
        </p:nvSpPr>
        <p:spPr>
          <a:xfrm>
            <a:off x="868680" y="1600200"/>
            <a:ext cx="4480560" cy="4480560"/>
          </a:xfrm>
          <a:prstGeom prst="ellipse">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240280"/>
            <a:ext cx="3200400" cy="3200400"/>
          </a:xfrm>
          <a:prstGeom prst="ellipse">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57400" y="2788920"/>
            <a:ext cx="2103120" cy="2103120"/>
          </a:xfrm>
          <a:prstGeom prst="ellipse">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06040" y="3337560"/>
            <a:ext cx="1005840" cy="10058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94560" y="178308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Rest</a:t>
            </a:r>
          </a:p>
        </p:txBody>
      </p:sp>
      <p:sp>
        <p:nvSpPr>
          <p:cNvPr id="12" name="TextBox 11"/>
          <p:cNvSpPr txBox="1"/>
          <p:nvPr/>
        </p:nvSpPr>
        <p:spPr>
          <a:xfrm>
            <a:off x="2194560" y="242316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Kernel</a:t>
            </a:r>
          </a:p>
        </p:txBody>
      </p:sp>
      <p:sp>
        <p:nvSpPr>
          <p:cNvPr id="13" name="TextBox 12"/>
          <p:cNvSpPr txBox="1"/>
          <p:nvPr/>
        </p:nvSpPr>
        <p:spPr>
          <a:xfrm>
            <a:off x="2194560" y="2971800"/>
            <a:ext cx="1828800" cy="365760"/>
          </a:xfrm>
          <a:prstGeom prst="rect">
            <a:avLst/>
          </a:prstGeom>
          <a:noFill/>
        </p:spPr>
        <p:txBody>
          <a:bodyPr wrap="square" anchor="t" lIns="45720" rIns="45720">
            <a:spAutoFit/>
          </a:bodyPr>
          <a:lstStyle/>
          <a:p>
            <a:pPr algn="ctr">
              <a:spcAft>
                <a:spcPts val="720"/>
              </a:spcAft>
            </a:pPr>
            <a:r>
              <a:rPr sz="1600" b="1">
                <a:solidFill>
                  <a:srgbClr val="0B0B0B"/>
                </a:solidFill>
                <a:latin typeface="Calibri"/>
              </a:rPr>
              <a:t>Core</a:t>
            </a:r>
          </a:p>
        </p:txBody>
      </p:sp>
      <p:sp>
        <p:nvSpPr>
          <p:cNvPr id="14" name="TextBox 13"/>
          <p:cNvSpPr txBox="1"/>
          <p:nvPr/>
        </p:nvSpPr>
        <p:spPr>
          <a:xfrm>
            <a:off x="2194560" y="3611880"/>
            <a:ext cx="1828800" cy="365760"/>
          </a:xfrm>
          <a:prstGeom prst="rect">
            <a:avLst/>
          </a:prstGeom>
          <a:noFill/>
        </p:spPr>
        <p:txBody>
          <a:bodyPr wrap="square" anchor="t" lIns="45720" rIns="45720">
            <a:spAutoFit/>
          </a:bodyPr>
          <a:lstStyle/>
          <a:p>
            <a:pPr algn="ctr">
              <a:spcAft>
                <a:spcPts val="720"/>
              </a:spcAft>
            </a:pPr>
            <a:r>
              <a:rPr sz="1600" b="1">
                <a:solidFill>
                  <a:srgbClr val="FCFCFB"/>
                </a:solidFill>
                <a:latin typeface="Calibri"/>
              </a:rPr>
              <a:t>MinSet</a:t>
            </a:r>
          </a:p>
        </p:txBody>
      </p:sp>
      <p:sp>
        <p:nvSpPr>
          <p:cNvPr id="15" name="TextBox 14"/>
          <p:cNvSpPr txBox="1"/>
          <p:nvPr/>
        </p:nvSpPr>
        <p:spPr>
          <a:xfrm>
            <a:off x="6035040" y="1737360"/>
            <a:ext cx="5486400" cy="4206240"/>
          </a:xfrm>
          <a:prstGeom prst="rect">
            <a:avLst/>
          </a:prstGeom>
          <a:noFill/>
        </p:spPr>
        <p:txBody>
          <a:bodyPr wrap="square" anchor="t" lIns="45720" rIns="45720">
            <a:spAutoFit/>
          </a:bodyPr>
          <a:lstStyle/>
          <a:p>
            <a:pPr algn="l">
              <a:spcAft>
                <a:spcPts val="855"/>
              </a:spcAft>
            </a:pPr>
            <a:r>
              <a:rPr sz="1900" b="1" i="0">
                <a:solidFill>
                  <a:srgbClr val="0B0B0B"/>
                </a:solidFill>
                <a:latin typeface="Calibri"/>
              </a:rPr>
              <a:t>Graph: </a:t>
            </a:r>
            <a:r>
              <a:rPr sz="1900" b="0">
                <a:solidFill>
                  <a:srgbClr val="0B0B0B"/>
                </a:solidFill>
                <a:latin typeface="Calibri"/>
              </a:rPr>
              <a:t>an arrow from every defining word to the word it defines.</a:t>
            </a:r>
          </a:p>
          <a:p>
            <a:pPr algn="l">
              <a:spcAft>
                <a:spcPts val="855"/>
              </a:spcAft>
            </a:pPr>
            <a:r>
              <a:rPr sz="1900" b="1" i="0">
                <a:solidFill>
                  <a:srgbClr val="0B0B0B"/>
                </a:solidFill>
                <a:latin typeface="Calibri"/>
              </a:rPr>
              <a:t>Kernel: </a:t>
            </a:r>
            <a:r>
              <a:rPr sz="1900" b="0">
                <a:solidFill>
                  <a:srgbClr val="0B0B0B"/>
                </a:solidFill>
                <a:latin typeface="Calibri"/>
              </a:rPr>
              <a:t>what remains after repeatedly removing words that define nothing. Everything else can be defined from it.</a:t>
            </a:r>
          </a:p>
          <a:p>
            <a:pPr algn="l">
              <a:spcAft>
                <a:spcPts val="855"/>
              </a:spcAft>
            </a:pPr>
            <a:r>
              <a:rPr sz="1900" b="1" i="0">
                <a:solidFill>
                  <a:srgbClr val="0B0B0B"/>
                </a:solidFill>
                <a:latin typeface="Calibri"/>
              </a:rPr>
              <a:t>Core: </a:t>
            </a:r>
            <a:r>
              <a:rPr sz="1900" b="0">
                <a:solidFill>
                  <a:srgbClr val="0B0B0B"/>
                </a:solidFill>
                <a:latin typeface="Calibri"/>
              </a:rPr>
              <a:t>its largest strongly connected part.</a:t>
            </a:r>
          </a:p>
          <a:p>
            <a:pPr algn="l">
              <a:spcAft>
                <a:spcPts val="855"/>
              </a:spcAft>
            </a:pPr>
            <a:r>
              <a:rPr sz="1900" b="1" i="0">
                <a:solidFill>
                  <a:srgbClr val="0B0B0B"/>
                </a:solidFill>
                <a:latin typeface="Calibri"/>
              </a:rPr>
              <a:t>MinSet: </a:t>
            </a:r>
            <a:r>
              <a:rPr sz="1900" b="0">
                <a:solidFill>
                  <a:srgbClr val="0B0B0B"/>
                </a:solidFill>
                <a:latin typeface="Calibri"/>
              </a:rPr>
              <a:t>the smallest set of words from which the whole dictionary can be learned (an NP-hard problem).</a:t>
            </a:r>
          </a:p>
          <a:p>
            <a:pPr algn="l">
              <a:spcAft>
                <a:spcPts val="855"/>
              </a:spcAft>
            </a:pPr>
            <a:r>
              <a:rPr sz="1900" b="1" i="0">
                <a:solidFill>
                  <a:srgbClr val="2A78D6"/>
                </a:solidFill>
                <a:latin typeface="Calibri"/>
              </a:rPr>
              <a:t>English dictionaries: </a:t>
            </a:r>
            <a:r>
              <a:rPr sz="1900" b="0" i="0">
                <a:solidFill>
                  <a:srgbClr val="2A78D6"/>
                </a:solidFill>
                <a:latin typeface="Calibri"/>
              </a:rPr>
              <a:t>Kernel 7–12%, MinSet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GRAUR’S FUNDAMENTAL LEXICAL STOCK</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Romanian linguistics asked a similar question in 1954</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6400800" cy="4114800"/>
          </a:xfrm>
          <a:prstGeom prst="rect">
            <a:avLst/>
          </a:prstGeom>
          <a:noFill/>
        </p:spPr>
        <p:txBody>
          <a:bodyPr wrap="square" anchor="t" lIns="45720" rIns="45720">
            <a:spAutoFit/>
          </a:bodyPr>
          <a:lstStyle/>
          <a:p>
            <a:pPr algn="l">
              <a:spcAft>
                <a:spcPts val="900"/>
              </a:spcAft>
            </a:pPr>
            <a:r>
              <a:rPr sz="2000" b="1" i="0">
                <a:solidFill>
                  <a:srgbClr val="0B0B0B"/>
                </a:solidFill>
                <a:latin typeface="Calibri"/>
              </a:rPr>
              <a:t>Al. Graur, </a:t>
            </a:r>
            <a:r>
              <a:rPr sz="2000" b="0" i="1">
                <a:solidFill>
                  <a:srgbClr val="0B0B0B"/>
                </a:solidFill>
                <a:latin typeface="Calibri"/>
              </a:rPr>
              <a:t>Încercare asupra fondului principal lexical al limbii romîne</a:t>
            </a:r>
            <a:r>
              <a:rPr sz="2000" b="0">
                <a:solidFill>
                  <a:srgbClr val="0B0B0B"/>
                </a:solidFill>
                <a:latin typeface="Calibri"/>
              </a:rPr>
              <a:t> (1954)</a:t>
            </a:r>
          </a:p>
          <a:p>
            <a:pPr algn="l">
              <a:spcAft>
                <a:spcPts val="900"/>
              </a:spcAft>
            </a:pPr>
            <a:r>
              <a:rPr sz="2000" b="0">
                <a:solidFill>
                  <a:srgbClr val="0B0B0B"/>
                </a:solidFill>
                <a:latin typeface="Calibri"/>
              </a:rPr>
              <a:t>1,419 words, in three circles of certainty (964 · 217 · 238), each labelled with its origin.</a:t>
            </a:r>
          </a:p>
          <a:p>
            <a:pPr algn="l">
              <a:spcAft>
                <a:spcPts val="900"/>
              </a:spcAft>
            </a:pPr>
            <a:r>
              <a:rPr sz="2000" b="0">
                <a:solidFill>
                  <a:srgbClr val="0B0B0B"/>
                </a:solidFill>
                <a:latin typeface="Calibri"/>
              </a:rPr>
              <a:t>Criteria: used by the whole people, old and stable, productive, rich in expressions.</a:t>
            </a:r>
          </a:p>
          <a:p>
            <a:pPr algn="l">
              <a:spcAft>
                <a:spcPts val="900"/>
              </a:spcAft>
            </a:pPr>
            <a:r>
              <a:rPr sz="2000" b="1" i="0">
                <a:solidFill>
                  <a:srgbClr val="0B0B0B"/>
                </a:solidFill>
                <a:latin typeface="Calibri"/>
              </a:rPr>
              <a:t>His own test: </a:t>
            </a:r>
            <a:r>
              <a:rPr sz="2000" b="0">
                <a:solidFill>
                  <a:srgbClr val="0B0B0B"/>
                </a:solidFill>
                <a:latin typeface="Calibri"/>
              </a:rPr>
              <a:t>a core word occupies a large space in dictionaries (pp. 24–25).</a:t>
            </a:r>
          </a:p>
          <a:p>
            <a:pPr algn="l">
              <a:spcAft>
                <a:spcPts val="900"/>
              </a:spcAft>
            </a:pPr>
            <a:r>
              <a:rPr sz="2000" b="0" i="0">
                <a:solidFill>
                  <a:srgbClr val="52514E"/>
                </a:solidFill>
                <a:latin typeface="Calibri"/>
              </a:rPr>
              <a:t>He called the selection subjective </a:t>
            </a:r>
            <a:r>
              <a:rPr sz="2000" b="0" i="0">
                <a:solidFill>
                  <a:srgbClr val="52514E"/>
                </a:solidFill>
                <a:latin typeface="Calibri"/>
              </a:rPr>
              <a:t>(1957). We treat it as a historical expert hypothesis.</a:t>
            </a:r>
          </a:p>
        </p:txBody>
      </p:sp>
      <p:sp>
        <p:nvSpPr>
          <p:cNvPr id="8" name="Rounded Rectangle 7"/>
          <p:cNvSpPr/>
          <p:nvPr/>
        </p:nvSpPr>
        <p:spPr>
          <a:xfrm>
            <a:off x="7589520" y="1828800"/>
            <a:ext cx="3931920" cy="3566160"/>
          </a:xfrm>
          <a:prstGeom prst="round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011680"/>
            <a:ext cx="3566160" cy="32918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We transcribed the list</a:t>
            </a:r>
          </a:p>
          <a:p>
            <a:pPr algn="l">
              <a:spcAft>
                <a:spcPts val="765"/>
              </a:spcAft>
            </a:pPr>
            <a:r>
              <a:rPr sz="1700" b="0">
                <a:solidFill>
                  <a:srgbClr val="0B0B0B"/>
                </a:solidFill>
                <a:latin typeface="Calibri"/>
              </a:rPr>
              <a:t>1,419 entries · Slavic share 21.49% (exactly as published)</a:t>
            </a:r>
          </a:p>
          <a:p>
            <a:pPr algn="l">
              <a:spcAft>
                <a:spcPts val="765"/>
              </a:spcAft>
            </a:pPr>
            <a:r>
              <a:rPr sz="1700" b="0">
                <a:solidFill>
                  <a:srgbClr val="0B0B0B"/>
                </a:solidFill>
                <a:latin typeface="Calibri"/>
              </a:rPr>
              <a:t>1,416 linked to DEX headwords</a:t>
            </a:r>
          </a:p>
          <a:p>
            <a:pPr algn="l">
              <a:spcAft>
                <a:spcPts val="765"/>
              </a:spcAft>
            </a:pPr>
            <a:r>
              <a:rPr sz="1700" b="0">
                <a:solidFill>
                  <a:srgbClr val="0B0B0B"/>
                </a:solidFill>
                <a:latin typeface="Calibri"/>
              </a:rPr>
              <a:t>Graur left out arbore because it competes with copac, pom, lemn (p.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DATA AND METHOD</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Reading the whole DEX, with a language model as an instrument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65,452</a:t>
            </a:r>
          </a:p>
        </p:txBody>
      </p:sp>
      <p:sp>
        <p:nvSpPr>
          <p:cNvPr id="8" name="TextBox 7"/>
          <p:cNvSpPr txBox="1"/>
          <p:nvPr/>
        </p:nvSpPr>
        <p:spPr>
          <a:xfrm>
            <a:off x="6400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definitions, DEX 2nd edition (dexonline, GPL)</a:t>
            </a:r>
          </a:p>
        </p:txBody>
      </p:sp>
      <p:sp>
        <p:nvSpPr>
          <p:cNvPr id="9" name="TextBox 8"/>
          <p:cNvSpPr txBox="1"/>
          <p:nvPr/>
        </p:nvSpPr>
        <p:spPr>
          <a:xfrm>
            <a:off x="42976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63,843</a:t>
            </a:r>
          </a:p>
        </p:txBody>
      </p:sp>
      <p:sp>
        <p:nvSpPr>
          <p:cNvPr id="10" name="TextBox 9"/>
          <p:cNvSpPr txBox="1"/>
          <p:nvPr/>
        </p:nvSpPr>
        <p:spPr>
          <a:xfrm>
            <a:off x="42976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headwords (DEX ’98 completed with DEX ’96 for G–I)</a:t>
            </a:r>
          </a:p>
        </p:txBody>
      </p:sp>
      <p:sp>
        <p:nvSpPr>
          <p:cNvPr id="11" name="TextBox 10"/>
          <p:cNvSpPr txBox="1"/>
          <p:nvPr/>
        </p:nvSpPr>
        <p:spPr>
          <a:xfrm>
            <a:off x="7955279" y="1737360"/>
            <a:ext cx="329184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26%</a:t>
            </a:r>
          </a:p>
        </p:txBody>
      </p:sp>
      <p:sp>
        <p:nvSpPr>
          <p:cNvPr id="12" name="TextBox 11"/>
          <p:cNvSpPr txBox="1"/>
          <p:nvPr/>
        </p:nvSpPr>
        <p:spPr>
          <a:xfrm>
            <a:off x="7955279"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word forms in definitions are ambiguous</a:t>
            </a:r>
          </a:p>
        </p:txBody>
      </p:sp>
      <p:sp>
        <p:nvSpPr>
          <p:cNvPr id="13" name="TextBox 12"/>
          <p:cNvSpPr txBox="1"/>
          <p:nvPr/>
        </p:nvSpPr>
        <p:spPr>
          <a:xfrm>
            <a:off x="640080" y="3886200"/>
            <a:ext cx="10972800" cy="2194560"/>
          </a:xfrm>
          <a:prstGeom prst="rect">
            <a:avLst/>
          </a:prstGeom>
          <a:noFill/>
        </p:spPr>
        <p:txBody>
          <a:bodyPr wrap="square" anchor="t" lIns="45720" rIns="45720">
            <a:spAutoFit/>
          </a:bodyPr>
          <a:lstStyle/>
          <a:p>
            <a:pPr algn="l">
              <a:spcAft>
                <a:spcPts val="900"/>
              </a:spcAft>
            </a:pPr>
            <a:r>
              <a:rPr sz="2000" b="0" i="1">
                <a:solidFill>
                  <a:srgbClr val="0B0B0B"/>
                </a:solidFill>
                <a:latin typeface="Calibri"/>
              </a:rPr>
              <a:t>sare</a:t>
            </a:r>
            <a:r>
              <a:rPr sz="2000" b="0">
                <a:solidFill>
                  <a:srgbClr val="0B0B0B"/>
                </a:solidFill>
                <a:latin typeface="Calibri"/>
              </a:rPr>
              <a:t> → sare ‘salt’ or sări ‘jump’?   </a:t>
            </a:r>
            <a:r>
              <a:rPr sz="2000" b="0" i="1">
                <a:solidFill>
                  <a:srgbClr val="0B0B0B"/>
                </a:solidFill>
                <a:latin typeface="Calibri"/>
              </a:rPr>
              <a:t>fire</a:t>
            </a:r>
            <a:r>
              <a:rPr sz="2000" b="0">
                <a:solidFill>
                  <a:srgbClr val="0B0B0B"/>
                </a:solidFill>
                <a:latin typeface="Calibri"/>
              </a:rPr>
              <a:t> → fir ‘thread’, fire ‘nature’ or fi ‘be’?</a:t>
            </a:r>
          </a:p>
          <a:p>
            <a:pPr algn="l">
              <a:spcAft>
                <a:spcPts val="900"/>
              </a:spcAft>
            </a:pPr>
            <a:r>
              <a:rPr sz="2000" b="1" i="0">
                <a:solidFill>
                  <a:srgbClr val="0B0B0B"/>
                </a:solidFill>
                <a:latin typeface="Calibri"/>
              </a:rPr>
              <a:t>Claude Haiku 4.5 </a:t>
            </a:r>
            <a:r>
              <a:rPr sz="2000" b="0">
                <a:solidFill>
                  <a:srgbClr val="0B0B0B"/>
                </a:solidFill>
                <a:latin typeface="Calibri"/>
              </a:rPr>
              <a:t>reads each definition and picks the lemma; a stronger model (Claude Opus 5) checks a random sample: </a:t>
            </a:r>
            <a:r>
              <a:rPr sz="2000" b="1" i="0">
                <a:solidFill>
                  <a:srgbClr val="2A78D6"/>
                </a:solidFill>
                <a:latin typeface="Calibri"/>
              </a:rPr>
              <a:t>87% agreement on content words.</a:t>
            </a:r>
          </a:p>
          <a:p>
            <a:pPr algn="l">
              <a:spcAft>
                <a:spcPts val="900"/>
              </a:spcAft>
            </a:pPr>
            <a:r>
              <a:rPr sz="2000" b="0">
                <a:solidFill>
                  <a:srgbClr val="0B0B0B"/>
                </a:solidFill>
                <a:latin typeface="Calibri"/>
              </a:rPr>
              <a:t>Cost ≈ 23 USD. Every result is repeated without the model (frequency rule, all candidates).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1</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has a very large hidden core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1_size.png"/>
          <p:cNvPicPr>
            <a:picLocks noChangeAspect="1"/>
          </p:cNvPicPr>
          <p:nvPr/>
        </p:nvPicPr>
        <p:blipFill>
          <a:blip r:embed="rId3"/>
          <a:stretch>
            <a:fillRect/>
          </a:stretch>
        </p:blipFill>
        <p:spPr>
          <a:xfrm>
            <a:off x="640080" y="1737360"/>
            <a:ext cx="6675120" cy="3493759"/>
          </a:xfrm>
          <a:prstGeom prst="rect">
            <a:avLst/>
          </a:prstGeom>
        </p:spPr>
      </p:pic>
      <p:sp>
        <p:nvSpPr>
          <p:cNvPr id="8" name="TextBox 7"/>
          <p:cNvSpPr txBox="1"/>
          <p:nvPr/>
        </p:nvSpPr>
        <p:spPr>
          <a:xfrm>
            <a:off x="786384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33%</a:t>
            </a:r>
          </a:p>
        </p:txBody>
      </p:sp>
      <p:sp>
        <p:nvSpPr>
          <p:cNvPr id="9" name="TextBox 8"/>
          <p:cNvSpPr txBox="1"/>
          <p:nvPr/>
        </p:nvSpPr>
        <p:spPr>
          <a:xfrm>
            <a:off x="786384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headwords in the Kernel (21,216 words)</a:t>
            </a:r>
          </a:p>
        </p:txBody>
      </p:sp>
      <p:sp>
        <p:nvSpPr>
          <p:cNvPr id="10" name="TextBox 9"/>
          <p:cNvSpPr txBox="1"/>
          <p:nvPr/>
        </p:nvSpPr>
        <p:spPr>
          <a:xfrm>
            <a:off x="7863840" y="3749039"/>
            <a:ext cx="402336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9.7–9.9%</a:t>
            </a:r>
          </a:p>
        </p:txBody>
      </p:sp>
      <p:sp>
        <p:nvSpPr>
          <p:cNvPr id="11" name="TextBox 10"/>
          <p:cNvSpPr txBox="1"/>
          <p:nvPr/>
        </p:nvSpPr>
        <p:spPr>
          <a:xfrm>
            <a:off x="7863840" y="4663439"/>
            <a:ext cx="402336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MinSet: 6,193–6,325 words (proven lower and upper bounds)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COMPARISON, SAME PROCEDURE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stands apart from 11 other languages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5_crossling.png"/>
          <p:cNvPicPr>
            <a:picLocks noChangeAspect="1"/>
          </p:cNvPicPr>
          <p:nvPr/>
        </p:nvPicPr>
        <p:blipFill>
          <a:blip r:embed="rId3"/>
          <a:stretch>
            <a:fillRect/>
          </a:stretch>
        </p:blipFill>
        <p:spPr>
          <a:xfrm>
            <a:off x="457200" y="1463040"/>
            <a:ext cx="6869303" cy="4846320"/>
          </a:xfrm>
          <a:prstGeom prst="rect">
            <a:avLst/>
          </a:prstGeom>
        </p:spPr>
      </p:pic>
      <p:sp>
        <p:nvSpPr>
          <p:cNvPr id="8" name="TextBox 7"/>
          <p:cNvSpPr txBox="1"/>
          <p:nvPr/>
        </p:nvSpPr>
        <p:spPr>
          <a:xfrm>
            <a:off x="8412480" y="1737360"/>
            <a:ext cx="3566160" cy="4206240"/>
          </a:xfrm>
          <a:prstGeom prst="rect">
            <a:avLst/>
          </a:prstGeom>
          <a:noFill/>
        </p:spPr>
        <p:txBody>
          <a:bodyPr wrap="square" anchor="t" lIns="45720" rIns="45720">
            <a:spAutoFit/>
          </a:bodyPr>
          <a:lstStyle/>
          <a:p>
            <a:pPr algn="l">
              <a:spcAft>
                <a:spcPts val="765"/>
              </a:spcAft>
            </a:pPr>
            <a:r>
              <a:rPr sz="3000" b="1" i="0">
                <a:solidFill>
                  <a:srgbClr val="2A78D6"/>
                </a:solidFill>
                <a:latin typeface="Calibri"/>
              </a:rPr>
              <a:t>28%</a:t>
            </a:r>
            <a:r>
              <a:rPr sz="1700" b="0">
                <a:solidFill>
                  <a:srgbClr val="0B0B0B"/>
                </a:solidFill>
                <a:latin typeface="Calibri"/>
              </a:rPr>
              <a:t> of the DEX Kernel is needed as MinSet</a:t>
            </a:r>
          </a:p>
          <a:p>
            <a:pPr algn="l">
              <a:spcAft>
                <a:spcPts val="765"/>
              </a:spcAft>
            </a:pPr>
            <a:r>
              <a:rPr sz="3000" b="1" i="0">
                <a:solidFill>
                  <a:srgbClr val="52514E"/>
                </a:solidFill>
                <a:latin typeface="Calibri"/>
              </a:rPr>
              <a:t>10–17%</a:t>
            </a:r>
            <a:r>
              <a:rPr sz="1700" b="0">
                <a:solidFill>
                  <a:srgbClr val="0B0B0B"/>
                </a:solidFill>
                <a:latin typeface="Calibri"/>
              </a:rPr>
              <a:t> in all other dictionaries</a:t>
            </a:r>
          </a:p>
          <a:p>
            <a:pPr algn="l">
              <a:spcAft>
                <a:spcPts val="765"/>
              </a:spcAft>
            </a:pPr>
            <a:r>
              <a:rPr sz="1700" b="0">
                <a:solidFill>
                  <a:srgbClr val="0B0B0B"/>
                </a:solidFill>
                <a:latin typeface="Calibri"/>
              </a:rPr>
              <a:t>Reciprocal pairs: 5–20 times more frequent in the DEX.</a:t>
            </a:r>
          </a:p>
          <a:p>
            <a:pPr algn="l">
              <a:spcAft>
                <a:spcPts val="765"/>
              </a:spcAft>
            </a:pPr>
            <a:r>
              <a:rPr sz="1700" b="0">
                <a:solidFill>
                  <a:srgbClr val="0B0B0B"/>
                </a:solidFill>
                <a:latin typeface="Calibri"/>
              </a:rPr>
              <a:t>Italian, Spanish, Portuguese and French behave like German or Russian: not a Romance property.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2</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Why? Definition by synonym</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arbore  ⇄  copac</a:t>
            </a:r>
          </a:p>
        </p:txBody>
      </p:sp>
      <p:sp>
        <p:nvSpPr>
          <p:cNvPr id="8" name="Rounded Rectangle 7"/>
          <p:cNvSpPr/>
          <p:nvPr/>
        </p:nvSpPr>
        <p:spPr>
          <a:xfrm>
            <a:off x="438912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amabil  ⇄  binevoitor</a:t>
            </a:r>
          </a:p>
        </p:txBody>
      </p:sp>
      <p:sp>
        <p:nvSpPr>
          <p:cNvPr id="9" name="Rounded Rectangle 8"/>
          <p:cNvSpPr/>
          <p:nvPr/>
        </p:nvSpPr>
        <p:spPr>
          <a:xfrm>
            <a:off x="8138159"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primejdie  ⇄  risc</a:t>
            </a:r>
          </a:p>
        </p:txBody>
      </p:sp>
      <p:sp>
        <p:nvSpPr>
          <p:cNvPr id="10" name="Rounded Rectangle 9"/>
          <p:cNvSpPr/>
          <p:nvPr/>
        </p:nvSpPr>
        <p:spPr>
          <a:xfrm>
            <a:off x="64008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balenă  ⇄  chit</a:t>
            </a:r>
          </a:p>
        </p:txBody>
      </p:sp>
      <p:sp>
        <p:nvSpPr>
          <p:cNvPr id="11" name="Rounded Rectangle 10"/>
          <p:cNvSpPr/>
          <p:nvPr/>
        </p:nvSpPr>
        <p:spPr>
          <a:xfrm>
            <a:off x="438912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capelă  ⇄  paraclis</a:t>
            </a:r>
          </a:p>
        </p:txBody>
      </p:sp>
      <p:sp>
        <p:nvSpPr>
          <p:cNvPr id="12" name="Rounded Rectangle 11"/>
          <p:cNvSpPr/>
          <p:nvPr/>
        </p:nvSpPr>
        <p:spPr>
          <a:xfrm>
            <a:off x="8138159"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apuca  ⇄  înșfăca</a:t>
            </a:r>
          </a:p>
        </p:txBody>
      </p:sp>
      <p:sp>
        <p:nvSpPr>
          <p:cNvPr id="13" name="TextBox 12"/>
          <p:cNvSpPr txBox="1"/>
          <p:nvPr/>
        </p:nvSpPr>
        <p:spPr>
          <a:xfrm>
            <a:off x="640080" y="4251960"/>
            <a:ext cx="10972800" cy="1828800"/>
          </a:xfrm>
          <a:prstGeom prst="rect">
            <a:avLst/>
          </a:prstGeom>
          <a:noFill/>
        </p:spPr>
        <p:txBody>
          <a:bodyPr wrap="square" anchor="t" lIns="45720" rIns="45720">
            <a:spAutoFit/>
          </a:bodyPr>
          <a:lstStyle/>
          <a:p>
            <a:pPr algn="l">
              <a:spcAft>
                <a:spcPts val="900"/>
              </a:spcAft>
            </a:pPr>
            <a:r>
              <a:rPr sz="2000" b="1" i="0">
                <a:solidFill>
                  <a:srgbClr val="2A78D6"/>
                </a:solidFill>
                <a:latin typeface="Calibri"/>
              </a:rPr>
              <a:t>8,761 pairs of words define each other</a:t>
            </a:r>
            <a:r>
              <a:rPr sz="2000" b="0">
                <a:solidFill>
                  <a:srgbClr val="0B0B0B"/>
                </a:solidFill>
                <a:latin typeface="Calibri"/>
              </a:rPr>
              <a:t> (29% share a stem; most others are synonyms).</a:t>
            </a:r>
          </a:p>
          <a:p>
            <a:pPr algn="l">
              <a:spcAft>
                <a:spcPts val="900"/>
              </a:spcAft>
            </a:pPr>
            <a:r>
              <a:rPr sz="2000" b="0">
                <a:solidFill>
                  <a:srgbClr val="0B0B0B"/>
                </a:solidFill>
                <a:latin typeface="Calibri"/>
              </a:rPr>
              <a:t>Each pair forces one word into the MinSet: 98% of the disjoint cycles are such pairs.</a:t>
            </a:r>
          </a:p>
          <a:p>
            <a:pPr algn="l">
              <a:spcAft>
                <a:spcPts val="900"/>
              </a:spcAft>
            </a:pPr>
            <a:r>
              <a:rPr sz="2000" b="0">
                <a:solidFill>
                  <a:srgbClr val="0B0B0B"/>
                </a:solidFill>
                <a:latin typeface="Calibri"/>
              </a:rPr>
              <a:t>English learner dictionaries use a controlled defining vocabulary; the DEX defines by synonym.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ROBUSTNESS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conclusion does not depend on the AI</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3_robustness.png"/>
          <p:cNvPicPr>
            <a:picLocks noChangeAspect="1"/>
          </p:cNvPicPr>
          <p:nvPr/>
        </p:nvPicPr>
        <p:blipFill>
          <a:blip r:embed="rId3"/>
          <a:stretch>
            <a:fillRect/>
          </a:stretch>
        </p:blipFill>
        <p:spPr>
          <a:xfrm>
            <a:off x="640080" y="1737360"/>
            <a:ext cx="6949440" cy="2959615"/>
          </a:xfrm>
          <a:prstGeom prst="rect">
            <a:avLst/>
          </a:prstGeom>
        </p:spPr>
      </p:pic>
      <p:sp>
        <p:nvSpPr>
          <p:cNvPr id="8" name="TextBox 7"/>
          <p:cNvSpPr txBox="1"/>
          <p:nvPr/>
        </p:nvSpPr>
        <p:spPr>
          <a:xfrm>
            <a:off x="7955279" y="1828800"/>
            <a:ext cx="3840480" cy="4023360"/>
          </a:xfrm>
          <a:prstGeom prst="rect">
            <a:avLst/>
          </a:prstGeom>
          <a:noFill/>
        </p:spPr>
        <p:txBody>
          <a:bodyPr wrap="square" anchor="t" lIns="45720" rIns="45720">
            <a:spAutoFit/>
          </a:bodyPr>
          <a:lstStyle/>
          <a:p>
            <a:pPr algn="l">
              <a:spcAft>
                <a:spcPts val="855"/>
              </a:spcAft>
            </a:pPr>
            <a:r>
              <a:rPr sz="1900" b="0">
                <a:solidFill>
                  <a:srgbClr val="0B0B0B"/>
                </a:solidFill>
                <a:latin typeface="Calibri"/>
              </a:rPr>
              <a:t>Three ways of resolving ambiguous forms: the most frequent lemma, the language model, all candidates.</a:t>
            </a:r>
          </a:p>
          <a:p>
            <a:pPr algn="l">
              <a:spcAft>
                <a:spcPts val="855"/>
              </a:spcAft>
            </a:pPr>
            <a:r>
              <a:rPr sz="1900" b="1" i="0">
                <a:solidFill>
                  <a:srgbClr val="0B0B0B"/>
                </a:solidFill>
                <a:latin typeface="Calibri"/>
              </a:rPr>
              <a:t>Same picture every time: </a:t>
            </a:r>
            <a:r>
              <a:rPr sz="1900" b="0">
                <a:solidFill>
                  <a:srgbClr val="0B0B0B"/>
                </a:solidFill>
                <a:latin typeface="Calibri"/>
              </a:rPr>
              <a:t>a Kernel of 29–36% and a MinSet of 7.5–10.9%.</a:t>
            </a:r>
          </a:p>
          <a:p>
            <a:pPr algn="l">
              <a:spcAft>
                <a:spcPts val="855"/>
              </a:spcAft>
            </a:pPr>
            <a:r>
              <a:rPr sz="1900" b="0">
                <a:solidFill>
                  <a:srgbClr val="0B0B0B"/>
                </a:solidFill>
                <a:latin typeface="Calibri"/>
              </a:rPr>
              <a:t>Correct lemmas reveal more reciprocal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3</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core is linguistically real</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2_enrichment.png"/>
          <p:cNvPicPr>
            <a:picLocks noChangeAspect="1"/>
          </p:cNvPicPr>
          <p:nvPr/>
        </p:nvPicPr>
        <p:blipFill>
          <a:blip r:embed="rId3"/>
          <a:stretch>
            <a:fillRect/>
          </a:stretch>
        </p:blipFill>
        <p:spPr>
          <a:xfrm>
            <a:off x="548640" y="1691640"/>
            <a:ext cx="7589520" cy="3352222"/>
          </a:xfrm>
          <a:prstGeom prst="rect">
            <a:avLst/>
          </a:prstGeom>
        </p:spPr>
      </p:pic>
      <p:sp>
        <p:nvSpPr>
          <p:cNvPr id="8" name="TextBox 7"/>
          <p:cNvSpPr txBox="1"/>
          <p:nvPr/>
        </p:nvSpPr>
        <p:spPr>
          <a:xfrm>
            <a:off x="8412480" y="1828800"/>
            <a:ext cx="3474720" cy="4023360"/>
          </a:xfrm>
          <a:prstGeom prst="rect">
            <a:avLst/>
          </a:prstGeom>
          <a:noFill/>
        </p:spPr>
        <p:txBody>
          <a:bodyPr wrap="square" anchor="t" lIns="45720" rIns="45720">
            <a:spAutoFit/>
          </a:bodyPr>
          <a:lstStyle/>
          <a:p>
            <a:pPr algn="l">
              <a:spcAft>
                <a:spcPts val="810"/>
              </a:spcAft>
            </a:pPr>
            <a:r>
              <a:rPr sz="3000" b="1" i="0">
                <a:solidFill>
                  <a:srgbClr val="2A78D6"/>
                </a:solidFill>
                <a:latin typeface="Calibri"/>
              </a:rPr>
              <a:t>98%</a:t>
            </a:r>
            <a:r>
              <a:rPr sz="1800" b="0">
                <a:solidFill>
                  <a:srgbClr val="0B0B0B"/>
                </a:solidFill>
                <a:latin typeface="Calibri"/>
              </a:rPr>
              <a:t> of the Swadesh list (about 200 basic meanings used in comparative linguistics) in the Kernel</a:t>
            </a:r>
          </a:p>
          <a:p>
            <a:pPr algn="l">
              <a:spcAft>
                <a:spcPts val="810"/>
              </a:spcAft>
            </a:pPr>
            <a:r>
              <a:rPr sz="3000" b="1" i="0">
                <a:solidFill>
                  <a:srgbClr val="2A78D6"/>
                </a:solidFill>
                <a:latin typeface="Calibri"/>
              </a:rPr>
              <a:t>95%</a:t>
            </a:r>
            <a:r>
              <a:rPr sz="1800" b="0">
                <a:solidFill>
                  <a:srgbClr val="0B0B0B"/>
                </a:solidFill>
                <a:latin typeface="Calibri"/>
              </a:rPr>
              <a:t> of Graur’s words in the Kernel</a:t>
            </a:r>
          </a:p>
          <a:p>
            <a:pPr algn="l">
              <a:spcAft>
                <a:spcPts val="810"/>
              </a:spcAft>
            </a:pPr>
            <a:r>
              <a:rPr sz="1800" b="0" i="0">
                <a:solidFill>
                  <a:srgbClr val="52514E"/>
                </a:solidFill>
                <a:latin typeface="Calibri"/>
              </a:rPr>
              <a:t>chance: 33%</a:t>
            </a:r>
          </a:p>
          <a:p>
            <a:pPr algn="l">
              <a:spcAft>
                <a:spcPts val="810"/>
              </a:spcAft>
            </a:pPr>
            <a:r>
              <a:rPr sz="1800" b="0">
                <a:solidFill>
                  <a:srgbClr val="0B0B0B"/>
                </a:solidFill>
                <a:latin typeface="Calibri"/>
              </a:rPr>
              <a:t>Graur’s most certain words are the most central: 97% in the Kernel, 49% in the MinSet (wider groups: 25%,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CASE STUDIES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Graur’s own examples, seen through the graph</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graphicFrame>
        <p:nvGraphicFramePr>
          <p:cNvPr id="7" name="Table 6"/>
          <p:cNvGraphicFramePr>
            <a:graphicFrameLocks noGrp="1"/>
          </p:cNvGraphicFramePr>
          <p:nvPr/>
        </p:nvGraphicFramePr>
        <p:xfrm>
          <a:off x="640080" y="1691640"/>
          <a:ext cx="7498079" cy="4279392"/>
        </p:xfrm>
        <a:graphic>
          <a:graphicData uri="http://schemas.openxmlformats.org/drawingml/2006/table">
            <a:tbl>
              <a:tblPr firstRow="1" bandRow="1">
                <a:tableStyleId>{5C22544A-7EE6-4342-B048-85BDC9FD1C3A}</a:tableStyleId>
              </a:tblPr>
              <a:tblGrid>
                <a:gridCol w="1874519"/>
                <a:gridCol w="1874519"/>
                <a:gridCol w="1874519"/>
                <a:gridCol w="1874522"/>
              </a:tblGrid>
              <a:tr h="329184">
                <a:tc>
                  <a:txBody>
                    <a:bodyPr/>
                    <a:lstStyle/>
                    <a:p>
                      <a:r>
                        <a:rPr sz="1500" b="1" i="0">
                          <a:solidFill>
                            <a:srgbClr val="FCFCFB"/>
                          </a:solidFill>
                          <a:latin typeface="Calibri"/>
                        </a:rPr>
                        <a:t>word</a:t>
                      </a:r>
                    </a:p>
                  </a:txBody>
                  <a:tcPr>
                    <a:solidFill>
                      <a:srgbClr val="2A78D6"/>
                    </a:solidFill>
                  </a:tcPr>
                </a:tc>
                <a:tc>
                  <a:txBody>
                    <a:bodyPr/>
                    <a:lstStyle/>
                    <a:p>
                      <a:r>
                        <a:rPr sz="1500" b="1" i="0">
                          <a:solidFill>
                            <a:srgbClr val="FCFCFB"/>
                          </a:solidFill>
                          <a:latin typeface="Calibri"/>
                        </a:rPr>
                        <a:t>Graur 1954</a:t>
                      </a:r>
                    </a:p>
                  </a:txBody>
                  <a:tcPr>
                    <a:solidFill>
                      <a:srgbClr val="2A78D6"/>
                    </a:solidFill>
                  </a:tcPr>
                </a:tc>
                <a:tc>
                  <a:txBody>
                    <a:bodyPr/>
                    <a:lstStyle/>
                    <a:p>
                      <a:r>
                        <a:rPr sz="1500" b="1" i="0">
                          <a:solidFill>
                            <a:srgbClr val="FCFCFB"/>
                          </a:solidFill>
                          <a:latin typeface="Calibri"/>
                        </a:rPr>
                        <a:t>graph layer</a:t>
                      </a:r>
                    </a:p>
                  </a:txBody>
                  <a:tcPr>
                    <a:solidFill>
                      <a:srgbClr val="2A78D6"/>
                    </a:solidFill>
                  </a:tcPr>
                </a:tc>
                <a:tc>
                  <a:txBody>
                    <a:bodyPr/>
                    <a:lstStyle/>
                    <a:p>
                      <a:r>
                        <a:rPr sz="1500" b="1" i="0">
                          <a:solidFill>
                            <a:srgbClr val="FCFCFB"/>
                          </a:solidFill>
                          <a:latin typeface="Calibri"/>
                        </a:rPr>
                        <a:t>used in definitions of</a:t>
                      </a:r>
                    </a:p>
                  </a:txBody>
                  <a:tcPr>
                    <a:solidFill>
                      <a:srgbClr val="2A78D6"/>
                    </a:solidFill>
                  </a:tcPr>
                </a:tc>
              </a:tr>
              <a:tr h="329184">
                <a:tc>
                  <a:txBody>
                    <a:bodyPr/>
                    <a:lstStyle/>
                    <a:p>
                      <a:r>
                        <a:rPr sz="1500" b="0" i="1">
                          <a:solidFill>
                            <a:srgbClr val="0B0B0B"/>
                          </a:solidFill>
                          <a:latin typeface="Calibri"/>
                        </a:rPr>
                        <a:t>arbore</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157 headwords</a:t>
                      </a:r>
                    </a:p>
                  </a:txBody>
                  <a:tcPr>
                    <a:solidFill>
                      <a:srgbClr val="FCFCFB"/>
                    </a:solidFill>
                  </a:tcPr>
                </a:tc>
              </a:tr>
              <a:tr h="329184">
                <a:tc>
                  <a:txBody>
                    <a:bodyPr/>
                    <a:lstStyle/>
                    <a:p>
                      <a:r>
                        <a:rPr sz="1500" b="0" i="1">
                          <a:solidFill>
                            <a:srgbClr val="0B0B0B"/>
                          </a:solidFill>
                          <a:latin typeface="Calibri"/>
                        </a:rPr>
                        <a:t>copac</a:t>
                      </a:r>
                    </a:p>
                  </a:txBody>
                  <a:tcPr>
                    <a:solidFill>
                      <a:srgbClr val="F3F2EF"/>
                    </a:solidFill>
                  </a:tcPr>
                </a:tc>
                <a:tc>
                  <a:txBody>
                    <a:bodyPr/>
                    <a:lstStyle/>
                    <a:p>
                      <a:r>
                        <a:rPr sz="1500" b="0" i="0">
                          <a:solidFill>
                            <a:srgbClr val="0B0B0B"/>
                          </a:solidFill>
                          <a:latin typeface="Calibri"/>
                        </a:rPr>
                        <a:t>middle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84 headwords</a:t>
                      </a:r>
                    </a:p>
                  </a:txBody>
                  <a:tcPr>
                    <a:solidFill>
                      <a:srgbClr val="F3F2EF"/>
                    </a:solidFill>
                  </a:tcPr>
                </a:tc>
              </a:tr>
              <a:tr h="329184">
                <a:tc>
                  <a:txBody>
                    <a:bodyPr/>
                    <a:lstStyle/>
                    <a:p>
                      <a:r>
                        <a:rPr sz="1500" b="0" i="1">
                          <a:solidFill>
                            <a:srgbClr val="0B0B0B"/>
                          </a:solidFill>
                          <a:latin typeface="Calibri"/>
                        </a:rPr>
                        <a:t>pom</a:t>
                      </a:r>
                    </a:p>
                  </a:txBody>
                  <a:tcPr>
                    <a:solidFill>
                      <a:srgbClr val="FCFCFB"/>
                    </a:solidFill>
                  </a:tcPr>
                </a:tc>
                <a:tc>
                  <a:txBody>
                    <a:bodyPr/>
                    <a:lstStyle/>
                    <a:p>
                      <a:r>
                        <a:rPr sz="1500" b="0" i="0">
                          <a:solidFill>
                            <a:srgbClr val="0B0B0B"/>
                          </a:solidFill>
                          <a:latin typeface="Calibri"/>
                        </a:rPr>
                        <a:t>most certain</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52 headwords</a:t>
                      </a:r>
                    </a:p>
                  </a:txBody>
                  <a:tcPr>
                    <a:solidFill>
                      <a:srgbClr val="FCFCFB"/>
                    </a:solidFill>
                  </a:tcPr>
                </a:tc>
              </a:tr>
              <a:tr h="329184">
                <a:tc>
                  <a:txBody>
                    <a:bodyPr/>
                    <a:lstStyle/>
                    <a:p>
                      <a:r>
                        <a:rPr sz="1500" b="0" i="1">
                          <a:solidFill>
                            <a:srgbClr val="0B0B0B"/>
                          </a:solidFill>
                          <a:latin typeface="Calibri"/>
                        </a:rPr>
                        <a:t>femeie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467 headwords</a:t>
                      </a:r>
                    </a:p>
                  </a:txBody>
                  <a:tcPr>
                    <a:solidFill>
                      <a:srgbClr val="F3F2EF"/>
                    </a:solidFill>
                  </a:tcPr>
                </a:tc>
              </a:tr>
              <a:tr h="329184">
                <a:tc>
                  <a:txBody>
                    <a:bodyPr/>
                    <a:lstStyle/>
                    <a:p>
                      <a:r>
                        <a:rPr sz="1500" b="0" i="1">
                          <a:solidFill>
                            <a:srgbClr val="0B0B0B"/>
                          </a:solidFill>
                          <a:latin typeface="Calibri"/>
                        </a:rPr>
                        <a:t>nevastă</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18 headwords</a:t>
                      </a:r>
                    </a:p>
                  </a:txBody>
                  <a:tcPr>
                    <a:solidFill>
                      <a:srgbClr val="FCFCFB"/>
                    </a:solidFill>
                  </a:tcPr>
                </a:tc>
              </a:tr>
              <a:tr h="329184">
                <a:tc>
                  <a:txBody>
                    <a:bodyPr/>
                    <a:lstStyle/>
                    <a:p>
                      <a:r>
                        <a:rPr sz="1500" b="0" i="1">
                          <a:solidFill>
                            <a:srgbClr val="0B0B0B"/>
                          </a:solidFill>
                          <a:latin typeface="Calibri"/>
                        </a:rPr>
                        <a:t>muiere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7 headwords</a:t>
                      </a:r>
                    </a:p>
                  </a:txBody>
                  <a:tcPr>
                    <a:solidFill>
                      <a:srgbClr val="F3F2EF"/>
                    </a:solidFill>
                  </a:tcPr>
                </a:tc>
              </a:tr>
              <a:tr h="329184">
                <a:tc>
                  <a:txBody>
                    <a:bodyPr/>
                    <a:lstStyle/>
                    <a:p>
                      <a:r>
                        <a:rPr sz="1500" b="0" i="1">
                          <a:solidFill>
                            <a:srgbClr val="0B0B0B"/>
                          </a:solidFill>
                          <a:latin typeface="Calibri"/>
                        </a:rPr>
                        <a:t>cioban</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27 headwords</a:t>
                      </a:r>
                    </a:p>
                  </a:txBody>
                  <a:tcPr>
                    <a:solidFill>
                      <a:srgbClr val="FCFCFB"/>
                    </a:solidFill>
                  </a:tcPr>
                </a:tc>
              </a:tr>
              <a:tr h="329184">
                <a:tc>
                  <a:txBody>
                    <a:bodyPr/>
                    <a:lstStyle/>
                    <a:p>
                      <a:r>
                        <a:rPr sz="1500" b="0" i="1">
                          <a:solidFill>
                            <a:srgbClr val="0B0B0B"/>
                          </a:solidFill>
                          <a:latin typeface="Calibri"/>
                        </a:rPr>
                        <a:t>păcurar</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6 headwords</a:t>
                      </a:r>
                    </a:p>
                  </a:txBody>
                  <a:tcPr>
                    <a:solidFill>
                      <a:srgbClr val="F3F2EF"/>
                    </a:solidFill>
                  </a:tcPr>
                </a:tc>
              </a:tr>
              <a:tr h="329184">
                <a:tc>
                  <a:txBody>
                    <a:bodyPr/>
                    <a:lstStyle/>
                    <a:p>
                      <a:r>
                        <a:rPr sz="1500" b="0" i="1">
                          <a:solidFill>
                            <a:srgbClr val="0B0B0B"/>
                          </a:solidFill>
                          <a:latin typeface="Calibri"/>
                        </a:rPr>
                        <a:t>doagă</a:t>
                      </a:r>
                    </a:p>
                  </a:txBody>
                  <a:tcPr>
                    <a:solidFill>
                      <a:srgbClr val="FCFCFB"/>
                    </a:solidFill>
                  </a:tcPr>
                </a:tc>
                <a:tc>
                  <a:txBody>
                    <a:bodyPr/>
                    <a:lstStyle/>
                    <a:p>
                      <a:r>
                        <a:rPr sz="1500" b="0" i="0">
                          <a:solidFill>
                            <a:srgbClr val="0B0B0B"/>
                          </a:solidFill>
                          <a:latin typeface="Calibri"/>
                        </a:rPr>
                        <a:t>middle circle</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23 headwords</a:t>
                      </a:r>
                    </a:p>
                  </a:txBody>
                  <a:tcPr>
                    <a:solidFill>
                      <a:srgbClr val="FCFCFB"/>
                    </a:solidFill>
                  </a:tcPr>
                </a:tc>
              </a:tr>
              <a:tr h="329184">
                <a:tc>
                  <a:txBody>
                    <a:bodyPr/>
                    <a:lstStyle/>
                    <a:p>
                      <a:r>
                        <a:rPr sz="1500" b="0" i="1">
                          <a:solidFill>
                            <a:srgbClr val="0B0B0B"/>
                          </a:solidFill>
                          <a:latin typeface="Calibri"/>
                        </a:rPr>
                        <a:t>săgeată</a:t>
                      </a:r>
                    </a:p>
                  </a:txBody>
                  <a:tcPr>
                    <a:solidFill>
                      <a:srgbClr val="F3F2EF"/>
                    </a:solidFill>
                  </a:tcPr>
                </a:tc>
                <a:tc>
                  <a:txBody>
                    <a:bodyPr/>
                    <a:lstStyle/>
                    <a:p>
                      <a:r>
                        <a:rPr sz="1500" b="0" i="0">
                          <a:solidFill>
                            <a:srgbClr val="0B0B0B"/>
                          </a:solidFill>
                          <a:latin typeface="Calibri"/>
                        </a:rPr>
                        <a:t>most certain</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17 headwords</a:t>
                      </a:r>
                    </a:p>
                  </a:txBody>
                  <a:tcPr>
                    <a:solidFill>
                      <a:srgbClr val="F3F2EF"/>
                    </a:solidFill>
                  </a:tcPr>
                </a:tc>
              </a:tr>
              <a:tr h="329184">
                <a:tc>
                  <a:txBody>
                    <a:bodyPr/>
                    <a:lstStyle/>
                    <a:p>
                      <a:r>
                        <a:rPr sz="1500" b="0" i="1">
                          <a:solidFill>
                            <a:srgbClr val="0B0B0B"/>
                          </a:solidFill>
                          <a:latin typeface="Calibri"/>
                        </a:rPr>
                        <a:t>concert</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15 headwords</a:t>
                      </a:r>
                    </a:p>
                  </a:txBody>
                  <a:tcPr>
                    <a:solidFill>
                      <a:srgbClr val="FCFCFB"/>
                    </a:solidFill>
                  </a:tcPr>
                </a:tc>
              </a:tr>
              <a:tr h="329184">
                <a:tc>
                  <a:txBody>
                    <a:bodyPr/>
                    <a:lstStyle/>
                    <a:p>
                      <a:r>
                        <a:rPr sz="1500" b="0" i="1">
                          <a:solidFill>
                            <a:srgbClr val="0B0B0B"/>
                          </a:solidFill>
                          <a:latin typeface="Calibri"/>
                        </a:rPr>
                        <a:t>axiomă</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outside Kernel</a:t>
                      </a:r>
                    </a:p>
                  </a:txBody>
                  <a:tcPr>
                    <a:solidFill>
                      <a:srgbClr val="F3F2EF"/>
                    </a:solidFill>
                  </a:tcPr>
                </a:tc>
                <a:tc>
                  <a:txBody>
                    <a:bodyPr/>
                    <a:lstStyle/>
                    <a:p>
                      <a:r>
                        <a:rPr sz="1500" b="0" i="0">
                          <a:solidFill>
                            <a:srgbClr val="0B0B0B"/>
                          </a:solidFill>
                          <a:latin typeface="Calibri"/>
                        </a:rPr>
                        <a:t>2 headwords</a:t>
                      </a:r>
                    </a:p>
                  </a:txBody>
                  <a:tcPr>
                    <a:solidFill>
                      <a:srgbClr val="F3F2EF"/>
                    </a:solidFill>
                  </a:tcPr>
                </a:tc>
              </a:tr>
            </a:tbl>
          </a:graphicData>
        </a:graphic>
      </p:graphicFrame>
      <p:sp>
        <p:nvSpPr>
          <p:cNvPr id="8" name="TextBox 7"/>
          <p:cNvSpPr txBox="1"/>
          <p:nvPr/>
        </p:nvSpPr>
        <p:spPr>
          <a:xfrm>
            <a:off x="8503920" y="1783080"/>
            <a:ext cx="3383280" cy="4206240"/>
          </a:xfrm>
          <a:prstGeom prst="rect">
            <a:avLst/>
          </a:prstGeom>
          <a:noFill/>
        </p:spPr>
        <p:txBody>
          <a:bodyPr wrap="square" anchor="t" lIns="45720" rIns="45720">
            <a:spAutoFit/>
          </a:bodyPr>
          <a:lstStyle/>
          <a:p>
            <a:pPr algn="l">
              <a:spcAft>
                <a:spcPts val="765"/>
              </a:spcAft>
            </a:pPr>
            <a:r>
              <a:rPr sz="1700" b="1" i="1">
                <a:solidFill>
                  <a:srgbClr val="0B0B0B"/>
                </a:solidFill>
                <a:latin typeface="Calibri"/>
              </a:rPr>
              <a:t>arbore</a:t>
            </a:r>
            <a:r>
              <a:rPr sz="1700" b="0">
                <a:solidFill>
                  <a:srgbClr val="0B0B0B"/>
                </a:solidFill>
                <a:latin typeface="Calibri"/>
              </a:rPr>
              <a:t> was excluded by Graur because it competes with copac, pom, lemn (p. 19).</a:t>
            </a:r>
          </a:p>
          <a:p>
            <a:pPr algn="l">
              <a:spcAft>
                <a:spcPts val="765"/>
              </a:spcAft>
            </a:pPr>
            <a:r>
              <a:rPr sz="1700" b="0" i="0">
                <a:solidFill>
                  <a:srgbClr val="2A78D6"/>
                </a:solidFill>
                <a:latin typeface="Calibri"/>
              </a:rPr>
              <a:t>Yet the DEX uses arbore in 157 definitions, copac in 84.</a:t>
            </a:r>
          </a:p>
          <a:p>
            <a:pPr algn="l">
              <a:spcAft>
                <a:spcPts val="765"/>
              </a:spcAft>
            </a:pPr>
            <a:r>
              <a:rPr sz="1700" b="0">
                <a:solidFill>
                  <a:srgbClr val="0B0B0B"/>
                </a:solidFill>
                <a:latin typeface="Calibri"/>
              </a:rPr>
              <a:t>The dictionary’s defining preferences and the speakers’ usage Graur described are different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4</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Two cores: inherited words and working words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4_etymology.png"/>
          <p:cNvPicPr>
            <a:picLocks noChangeAspect="1"/>
          </p:cNvPicPr>
          <p:nvPr/>
        </p:nvPicPr>
        <p:blipFill>
          <a:blip r:embed="rId3"/>
          <a:stretch>
            <a:fillRect/>
          </a:stretch>
        </p:blipFill>
        <p:spPr>
          <a:xfrm>
            <a:off x="548640" y="1691640"/>
            <a:ext cx="7498079" cy="2784683"/>
          </a:xfrm>
          <a:prstGeom prst="rect">
            <a:avLst/>
          </a:prstGeom>
        </p:spPr>
      </p:pic>
      <p:sp>
        <p:nvSpPr>
          <p:cNvPr id="8" name="TextBox 7"/>
          <p:cNvSpPr txBox="1"/>
          <p:nvPr/>
        </p:nvSpPr>
        <p:spPr>
          <a:xfrm>
            <a:off x="8321040" y="1783080"/>
            <a:ext cx="3566160" cy="42062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Graur’s core: </a:t>
            </a:r>
            <a:r>
              <a:rPr sz="1700" b="0">
                <a:solidFill>
                  <a:srgbClr val="0B0B0B"/>
                </a:solidFill>
                <a:latin typeface="Calibri"/>
              </a:rPr>
              <a:t>stable, inherited (Latin + Slavic).</a:t>
            </a:r>
          </a:p>
          <a:p>
            <a:pPr algn="l">
              <a:spcAft>
                <a:spcPts val="765"/>
              </a:spcAft>
            </a:pPr>
            <a:r>
              <a:rPr sz="1700" b="1" i="0">
                <a:solidFill>
                  <a:srgbClr val="0B0B0B"/>
                </a:solidFill>
                <a:latin typeface="Calibri"/>
              </a:rPr>
              <a:t>The DEX’s working core: </a:t>
            </a:r>
            <a:r>
              <a:rPr sz="1700" b="0">
                <a:solidFill>
                  <a:srgbClr val="0B0B0B"/>
                </a:solidFill>
                <a:latin typeface="Calibri"/>
              </a:rPr>
              <a:t>learned words: acțiune, rezultat, persoană, substanță…</a:t>
            </a:r>
          </a:p>
          <a:p>
            <a:pPr algn="l">
              <a:spcAft>
                <a:spcPts val="765"/>
              </a:spcAft>
            </a:pPr>
            <a:r>
              <a:rPr sz="1700" b="0">
                <a:solidFill>
                  <a:srgbClr val="0B0B0B"/>
                </a:solidFill>
                <a:latin typeface="Calibri"/>
              </a:rPr>
              <a:t>Only 438 of Graur’s words are among the 1,419 most-used defining words.</a:t>
            </a:r>
          </a:p>
          <a:p>
            <a:pPr algn="l">
              <a:spcAft>
                <a:spcPts val="765"/>
              </a:spcAft>
            </a:pPr>
            <a:r>
              <a:rPr sz="1700" b="1" i="0">
                <a:solidFill>
                  <a:srgbClr val="0B0B0B"/>
                </a:solidFill>
                <a:latin typeface="Calibri"/>
              </a:rPr>
              <a:t>Outside the Kernel: </a:t>
            </a:r>
            <a:r>
              <a:rPr sz="1700" b="0" i="1">
                <a:solidFill>
                  <a:srgbClr val="0B0B0B"/>
                </a:solidFill>
                <a:latin typeface="Calibri"/>
              </a:rPr>
              <a:t>arici, mânz, țap, țarc, teasc, topor, prag…</a:t>
            </a:r>
            <a:r>
              <a:rPr sz="1700" b="0">
                <a:solidFill>
                  <a:srgbClr val="0B0B0B"/>
                </a:solidFill>
                <a:latin typeface="Calibri"/>
              </a:rPr>
              <a:t> (rural words that define nothing else)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DISCUSSION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Implications for Romanian lexicography and linguistics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373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map of circularity</a:t>
            </a:r>
          </a:p>
          <a:p>
            <a:pPr algn="l">
              <a:spcAft>
                <a:spcPts val="855"/>
              </a:spcAft>
            </a:pPr>
            <a:r>
              <a:rPr sz="1900" b="0">
                <a:solidFill>
                  <a:srgbClr val="0B0B0B"/>
                </a:solidFill>
                <a:latin typeface="Calibri"/>
              </a:rPr>
              <a:t>the list of mutually defining pairs shows where the DEX relies on synonymy; useful for a revised or learner’s dictionary.</a:t>
            </a:r>
          </a:p>
        </p:txBody>
      </p:sp>
      <p:sp>
        <p:nvSpPr>
          <p:cNvPr id="9" name="Rounded Rectangle 8"/>
          <p:cNvSpPr/>
          <p:nvPr/>
        </p:nvSpPr>
        <p:spPr>
          <a:xfrm>
            <a:off x="640080" y="31546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1089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test of a classical idea</a:t>
            </a:r>
          </a:p>
          <a:p>
            <a:pPr algn="l">
              <a:spcAft>
                <a:spcPts val="855"/>
              </a:spcAft>
            </a:pPr>
            <a:r>
              <a:rPr sz="1900" b="0">
                <a:solidFill>
                  <a:srgbClr val="0B0B0B"/>
                </a:solidFill>
                <a:latin typeface="Calibri"/>
              </a:rPr>
              <a:t>Graur’s list is supported by data he never had, and placed in context.</a:t>
            </a:r>
          </a:p>
        </p:txBody>
      </p:sp>
      <p:sp>
        <p:nvSpPr>
          <p:cNvPr id="11" name="Rounded Rectangle 10"/>
          <p:cNvSpPr/>
          <p:nvPr/>
        </p:nvSpPr>
        <p:spPr>
          <a:xfrm>
            <a:off x="640080" y="45262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4805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AI as an instrument</a:t>
            </a:r>
          </a:p>
          <a:p>
            <a:pPr algn="l">
              <a:spcAft>
                <a:spcPts val="855"/>
              </a:spcAft>
            </a:pPr>
            <a:r>
              <a:rPr sz="1900" b="0">
                <a:solidFill>
                  <a:srgbClr val="0B0B0B"/>
                </a:solidFill>
                <a:latin typeface="Calibri"/>
              </a:rPr>
              <a:t>a narrow, checkable task at full scale; reliability measured; conclusions tested without the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HOW CONFIDENT ARE WE?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Strength of the evidence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37360"/>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8" name="TextBox 7"/>
          <p:cNvSpPr txBox="1"/>
          <p:nvPr/>
        </p:nvSpPr>
        <p:spPr>
          <a:xfrm>
            <a:off x="2514600" y="178308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The DEX is much more circular than dictionaries of 11 other languages processed the same way; the cause is reciprocal (synonym) definition.</a:t>
            </a:r>
          </a:p>
        </p:txBody>
      </p:sp>
      <p:sp>
        <p:nvSpPr>
          <p:cNvPr id="9" name="Rounded Rectangle 8"/>
          <p:cNvSpPr/>
          <p:nvPr/>
        </p:nvSpPr>
        <p:spPr>
          <a:xfrm>
            <a:off x="640080" y="2450591"/>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10" name="TextBox 9"/>
          <p:cNvSpPr txBox="1"/>
          <p:nvPr/>
        </p:nvSpPr>
        <p:spPr>
          <a:xfrm>
            <a:off x="2514600" y="2496311"/>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Swadesh and Graur words are concentrated in the Kernel (p &lt; 10⁻²⁰⁰).</a:t>
            </a:r>
          </a:p>
        </p:txBody>
      </p:sp>
      <p:sp>
        <p:nvSpPr>
          <p:cNvPr id="11" name="Rounded Rectangle 10"/>
          <p:cNvSpPr/>
          <p:nvPr/>
        </p:nvSpPr>
        <p:spPr>
          <a:xfrm>
            <a:off x="640080" y="3163824"/>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2" name="TextBox 11"/>
          <p:cNvSpPr txBox="1"/>
          <p:nvPr/>
        </p:nvSpPr>
        <p:spPr>
          <a:xfrm>
            <a:off x="2514600" y="3209544"/>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MinSet size: proven bounds 6,193–6,325, a gap of 2.1%; not computed exactly.</a:t>
            </a:r>
          </a:p>
        </p:txBody>
      </p:sp>
      <p:sp>
        <p:nvSpPr>
          <p:cNvPr id="13" name="Rounded Rectangle 12"/>
          <p:cNvSpPr/>
          <p:nvPr/>
        </p:nvSpPr>
        <p:spPr>
          <a:xfrm>
            <a:off x="640080" y="3877056"/>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4" name="TextBox 13"/>
          <p:cNvSpPr txBox="1"/>
          <p:nvPr/>
        </p:nvSpPr>
        <p:spPr>
          <a:xfrm>
            <a:off x="2514600" y="3922776"/>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Graur’s most certain words are the most central; two marks out of 1,419 uncertain in our transcription.</a:t>
            </a:r>
          </a:p>
        </p:txBody>
      </p:sp>
      <p:sp>
        <p:nvSpPr>
          <p:cNvPr id="15" name="Rounded Rectangle 14"/>
          <p:cNvSpPr/>
          <p:nvPr/>
        </p:nvSpPr>
        <p:spPr>
          <a:xfrm>
            <a:off x="640080" y="4590288"/>
            <a:ext cx="1645920" cy="548640"/>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Indicative</a:t>
            </a:r>
          </a:p>
        </p:txBody>
      </p:sp>
      <p:sp>
        <p:nvSpPr>
          <p:cNvPr id="16" name="TextBox 15"/>
          <p:cNvSpPr txBox="1"/>
          <p:nvPr/>
        </p:nvSpPr>
        <p:spPr>
          <a:xfrm>
            <a:off x="2514600" y="4636008"/>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Etymological contrast: part of the vocabulary is unclassified.</a:t>
            </a:r>
          </a:p>
        </p:txBody>
      </p:sp>
      <p:sp>
        <p:nvSpPr>
          <p:cNvPr id="17" name="Rounded Rectangle 16"/>
          <p:cNvSpPr/>
          <p:nvPr/>
        </p:nvSpPr>
        <p:spPr>
          <a:xfrm>
            <a:off x="640080" y="5303520"/>
            <a:ext cx="1645920" cy="548640"/>
          </a:xfrm>
          <a:prstGeom prst="roundRect">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Scope</a:t>
            </a:r>
          </a:p>
        </p:txBody>
      </p:sp>
      <p:sp>
        <p:nvSpPr>
          <p:cNvPr id="18" name="TextBox 17"/>
          <p:cNvSpPr txBox="1"/>
          <p:nvPr/>
        </p:nvSpPr>
        <p:spPr>
          <a:xfrm>
            <a:off x="2514600" y="534924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One Romanian dictionary (the Romanian Wiktionary copies it), one edition, first senses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SUMMARY</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Conclusion</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10972800" cy="3657600"/>
          </a:xfrm>
          <a:prstGeom prst="rect">
            <a:avLst/>
          </a:prstGeom>
          <a:noFill/>
        </p:spPr>
        <p:txBody>
          <a:bodyPr wrap="square" anchor="t" lIns="45720" rIns="45720">
            <a:spAutoFit/>
          </a:bodyPr>
          <a:lstStyle/>
          <a:p>
            <a:pPr algn="l">
              <a:spcAft>
                <a:spcPts val="990"/>
              </a:spcAft>
            </a:pPr>
            <a:r>
              <a:rPr sz="2200" b="0">
                <a:solidFill>
                  <a:srgbClr val="0B0B0B"/>
                </a:solidFill>
                <a:latin typeface="Calibri"/>
              </a:rPr>
              <a:t>A third of the DEX forms a Kernel; about one word in ten must be known in advance to read the whole dictionary.</a:t>
            </a:r>
          </a:p>
          <a:p>
            <a:pPr algn="l">
              <a:spcAft>
                <a:spcPts val="990"/>
              </a:spcAft>
            </a:pPr>
            <a:r>
              <a:rPr sz="2200" b="0">
                <a:solidFill>
                  <a:srgbClr val="0B0B0B"/>
                </a:solidFill>
                <a:latin typeface="Calibri"/>
              </a:rPr>
              <a:t>In the DEX the MinSet takes 28% of the Kernel, against 10–17% in 11 other languages, mainly because the DEX defines words by synonyms.</a:t>
            </a:r>
          </a:p>
          <a:p>
            <a:pPr algn="l">
              <a:spcAft>
                <a:spcPts val="990"/>
              </a:spcAft>
            </a:pPr>
            <a:r>
              <a:rPr sz="2200" b="0">
                <a:solidFill>
                  <a:srgbClr val="0B0B0B"/>
                </a:solidFill>
                <a:latin typeface="Calibri"/>
              </a:rPr>
              <a:t>The Kernel contains almost all Swadesh and Graur words; Graur’s most certain words are the most central.</a:t>
            </a:r>
          </a:p>
          <a:p>
            <a:pPr algn="l">
              <a:spcAft>
                <a:spcPts val="990"/>
              </a:spcAft>
            </a:pPr>
            <a:r>
              <a:rPr sz="2200" b="0">
                <a:solidFill>
                  <a:srgbClr val="0B0B0B"/>
                </a:solidFill>
                <a:latin typeface="Calibri"/>
              </a:rPr>
              <a:t>A second, modern core of learned words does the defining.</a:t>
            </a:r>
          </a:p>
          <a:p>
            <a:pPr algn="l">
              <a:spcAft>
                <a:spcPts val="990"/>
              </a:spcAft>
            </a:pPr>
            <a:r>
              <a:rPr sz="2200" b="1" i="0">
                <a:solidFill>
                  <a:srgbClr val="2A78D6"/>
                </a:solidFill>
                <a:latin typeface="Calibri"/>
              </a:rPr>
              <a:t>We release the graph, its layers, the mutual pairs and the code.</a:t>
            </a:r>
          </a:p>
        </p:txBody>
      </p:sp>
      <p:sp>
        <p:nvSpPr>
          <p:cNvPr id="8" name="TextBox 7"/>
          <p:cNvSpPr txBox="1"/>
          <p:nvPr/>
        </p:nvSpPr>
        <p:spPr>
          <a:xfrm>
            <a:off x="640080" y="5577840"/>
            <a:ext cx="10972800" cy="457200"/>
          </a:xfrm>
          <a:prstGeom prst="rect">
            <a:avLst/>
          </a:prstGeom>
          <a:noFill/>
        </p:spPr>
        <p:txBody>
          <a:bodyPr wrap="square" anchor="t" lIns="45720" rIns="45720">
            <a:spAutoFit/>
          </a:bodyPr>
          <a:lstStyle/>
          <a:p>
            <a:pPr algn="l">
              <a:spcAft>
                <a:spcPts val="675"/>
              </a:spcAft>
            </a:pPr>
            <a:r>
              <a:rPr sz="1500" b="0">
                <a:solidFill>
                  <a:srgbClr val="52514E"/>
                </a:solidFill>
                <a:latin typeface="Calibri"/>
              </a:rPr>
              <a:t>vlad.belciug@365.univ-ovidius.ro · epelican@univ-ovidius.ro · Thanks to the dexonline volunteers.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