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Bună ziua. Vă propun o întrebare simplă despre dicționar și un răspuns măsurat pe tot DEX-ul.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Cauți copac în DEX: scrie arbore. Cauți arbore: scrie copac. Dacă nu știi niciunul, rămâi în cerc. Întrebarea: câte cuvinte trebuie să știi dinainte, din experiență, ca să înțelegi tot restul doar din definiții?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Metoda lui Harnad: dicționarul devine un graf. Nucleul (Kernel) e ce rămâne după ce scoți repetat cuvintele care nu definesc nimic. MinSet e cel mai mic set de cuvinte din care poți învăța tot dicționarul. În engleză: nucleu 7–12%, MinSet circa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Graur a pus în 1954 aceeași întrebare, cu alte mijloace: 1.419 cuvinte, în trei cercuri de siguranță. El însuși spunea că importanța unui cuvânt se vede în spațiul ocupat în dicționare. Am transcris lista și am reprodus exact totalul și procentul slav de 21,49%.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sfert din formele din definiții sunt ambigue. Modelul AI citește fiecare definiție și alege lema. Îl verificăm cu un model mai puternic: 87% acord pe cuvintele de conținut. Totul a costat cât un prânz. Și refacem totul fără AI, ca să vedem dacă concluziile rezistă.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Nucleul DEX are 33% din cuvinte, de trei până la cinci ori mai mult decât în engleză. Setul minim: între 6,193 și 6,325 cuvinte, adică aproape zece procente, de zece ori mai mult decât în engleză. Intervalul e calculat exact, cu programare liniară în numere întregi.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ce? Pentru că DEX-ul definește prin sinonime. Aproape nouă mii de perechi (8.761) se definesc reciproc. Fiecare pereche te obligă să știi dinainte unul dintre cuvinte. Nu sunt greșeli: e un stil de definire. Graur însuși observase concurența arbore–copac.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Refacem tot fără AI, în două feluri. Rezultatul rămâne același: nucleu 29–36%, MinSet 7.5–10.9%. Deci concluzia nu e un artefact al modelului.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nucleul real lingvistic? 98% din lista Swadesh și 95% din lista lui Graur sunt în nucleu, față de 33% la întâmplare. Lista Swadesh este lista standard de circa 200 de sensuri de bază folosită în lingvistica comparată. Cuvintele pe care Graur le considera cele mai sigure sunt cele mai centrale: 97% în nucleu și 49% în setul minim; cele două cercuri mai largi diferă puțin între ele.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Exemplele lui Graur. A exclus arbore pentru că e în concurență cu copac; dar DEX-ul folosește arbore aproape de două ori mai des decât copac ca termen definitoriu. Preferințele dicționarului nu coincid cu uzul descris de Graur, și asta e o observație interesantă despre metalimbajul lexicografic.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 nu e identitate. Cuvintele cu care DEX-ul își scrie definițiile sunt în mare parte împrumuturi savante franceze. Nucleul lui Graur e unul al stabilității; al dicționarului, unul al muncii de definire. Cuvintele rurale ale lui Graur sunt definite, dar nu definesc nimic.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lucruri pentru lingviști: o hartă a circularității pentru lexicografi, un test cantitativ al unei idei clasice și o rețetă de folosire a AI-ului ca instrument verificabil.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Cât de siguri suntem: foarte siguri pe circularitate și pe concentrarea listelor de experți în nucleu; bine pe mărimea setului minim și pe poziția cuvintelor celor mai sigure ale lui Graur; orientativ pe contrastul etimologic. Limita principală: un singur dicționar.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Concluzia: o treime din DEX formează nucleul; aproximativ un cuvânt din zece trebuie știut dinainte. De zece ori mai mult decât în engleză, din cauza definițiilor prin sinonim. Mulțumesc!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640080" y="548640"/>
            <a:ext cx="2146852" cy="822960"/>
          </a:xfrm>
          <a:prstGeom prst="rect">
            <a:avLst/>
          </a:prstGeom>
        </p:spPr>
      </p:pic>
      <p:sp>
        <p:nvSpPr>
          <p:cNvPr id="3" name="TextBox 2"/>
          <p:cNvSpPr txBox="1"/>
          <p:nvPr/>
        </p:nvSpPr>
        <p:spPr>
          <a:xfrm>
            <a:off x="640080" y="1828800"/>
            <a:ext cx="10515600" cy="1463040"/>
          </a:xfrm>
          <a:prstGeom prst="rect">
            <a:avLst/>
          </a:prstGeom>
          <a:noFill/>
        </p:spPr>
        <p:txBody>
          <a:bodyPr wrap="square" anchor="t" lIns="45720" rIns="45720">
            <a:spAutoFit/>
          </a:bodyPr>
          <a:lstStyle/>
          <a:p>
            <a:pPr algn="l">
              <a:spcAft>
                <a:spcPts val="2430"/>
              </a:spcAft>
            </a:pPr>
            <a:r>
              <a:rPr sz="5400" b="1">
                <a:solidFill>
                  <a:srgbClr val="0B0B0B"/>
                </a:solidFill>
                <a:latin typeface="Calibri"/>
              </a:rPr>
              <a:t>The Hidden Core of Romanian</a:t>
            </a:r>
          </a:p>
        </p:txBody>
      </p:sp>
      <p:sp>
        <p:nvSpPr>
          <p:cNvPr id="4" name="TextBox 3"/>
          <p:cNvSpPr txBox="1"/>
          <p:nvPr/>
        </p:nvSpPr>
        <p:spPr>
          <a:xfrm>
            <a:off x="640080" y="2880360"/>
            <a:ext cx="10515600" cy="914400"/>
          </a:xfrm>
          <a:prstGeom prst="rect">
            <a:avLst/>
          </a:prstGeom>
          <a:noFill/>
        </p:spPr>
        <p:txBody>
          <a:bodyPr wrap="square" anchor="t" lIns="45720" rIns="45720">
            <a:spAutoFit/>
          </a:bodyPr>
          <a:lstStyle/>
          <a:p>
            <a:pPr algn="l">
              <a:spcAft>
                <a:spcPts val="1260"/>
              </a:spcAft>
            </a:pPr>
            <a:r>
              <a:rPr sz="2800" b="0">
                <a:solidFill>
                  <a:srgbClr val="52514E"/>
                </a:solidFill>
                <a:latin typeface="Calibri"/>
              </a:rPr>
              <a:t>Latent structure of the DEX and Graur’s fundamental lexical stock</a:t>
            </a:r>
          </a:p>
        </p:txBody>
      </p:sp>
      <p:sp>
        <p:nvSpPr>
          <p:cNvPr id="5" name="TextBox 4"/>
          <p:cNvSpPr txBox="1"/>
          <p:nvPr/>
        </p:nvSpPr>
        <p:spPr>
          <a:xfrm>
            <a:off x="640080" y="4206240"/>
            <a:ext cx="10515600" cy="1280160"/>
          </a:xfrm>
          <a:prstGeom prst="rect">
            <a:avLst/>
          </a:prstGeom>
          <a:noFill/>
        </p:spPr>
        <p:txBody>
          <a:bodyPr wrap="square" anchor="t" lIns="45720" rIns="45720">
            <a:spAutoFit/>
          </a:bodyPr>
          <a:lstStyle/>
          <a:p>
            <a:pPr algn="l">
              <a:spcAft>
                <a:spcPts val="810"/>
              </a:spcAft>
            </a:pPr>
            <a:r>
              <a:rPr sz="2200" b="1" i="0">
                <a:solidFill>
                  <a:srgbClr val="52514E"/>
                </a:solidFill>
                <a:latin typeface="Calibri"/>
              </a:rPr>
              <a:t>Vlad Belciug, Elena Pelican</a:t>
            </a:r>
          </a:p>
          <a:p>
            <a:pPr algn="l">
              <a:spcAft>
                <a:spcPts val="810"/>
              </a:spcAft>
            </a:pPr>
            <a:r>
              <a:rPr sz="1800" b="0">
                <a:solidFill>
                  <a:srgbClr val="52514E"/>
                </a:solidFill>
                <a:latin typeface="Calibri"/>
              </a:rPr>
              <a:t>“Ovidius” University of Constanța · Faculty of Mathematics and Informatics</a:t>
            </a:r>
          </a:p>
          <a:p>
            <a:pPr algn="l">
              <a:spcAft>
                <a:spcPts val="810"/>
              </a:spcAft>
            </a:pPr>
            <a:r>
              <a:rPr sz="1800" b="0">
                <a:solidFill>
                  <a:srgbClr val="52514E"/>
                </a:solidFill>
                <a:latin typeface="Calibri"/>
              </a:rPr>
              <a:t>ConsILR 2026 · Galați &amp; online · 9–11 December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THE QUESTION</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A dictionary is a circle</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Rounded Rectangle 6"/>
          <p:cNvSpPr/>
          <p:nvPr/>
        </p:nvSpPr>
        <p:spPr>
          <a:xfrm>
            <a:off x="1280160" y="2377440"/>
            <a:ext cx="2926080" cy="1188720"/>
          </a:xfrm>
          <a:prstGeom prst="roundRect">
            <a:avLst/>
          </a:prstGeom>
          <a:solidFill>
            <a:srgbClr val="E8F1FB"/>
          </a:solidFill>
          <a:ln>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400" i="1">
                <a:solidFill>
                  <a:srgbClr val="0B0B0B"/>
                </a:solidFill>
                <a:latin typeface="Calibri"/>
              </a:rPr>
              <a:t>copac</a:t>
            </a:r>
          </a:p>
        </p:txBody>
      </p:sp>
      <p:sp>
        <p:nvSpPr>
          <p:cNvPr id="8" name="Rounded Rectangle 7"/>
          <p:cNvSpPr/>
          <p:nvPr/>
        </p:nvSpPr>
        <p:spPr>
          <a:xfrm>
            <a:off x="6583680" y="2377440"/>
            <a:ext cx="2926080" cy="1188720"/>
          </a:xfrm>
          <a:prstGeom prst="roundRect">
            <a:avLst/>
          </a:prstGeom>
          <a:solidFill>
            <a:srgbClr val="E8F1FB"/>
          </a:solidFill>
          <a:ln>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400" i="1">
                <a:solidFill>
                  <a:srgbClr val="0B0B0B"/>
                </a:solidFill>
                <a:latin typeface="Calibri"/>
              </a:rPr>
              <a:t>arbore</a:t>
            </a:r>
          </a:p>
        </p:txBody>
      </p:sp>
      <p:cxnSp>
        <p:nvCxnSpPr>
          <p:cNvPr id="9" name="Connector 8"/>
          <p:cNvCxnSpPr/>
          <p:nvPr/>
        </p:nvCxnSpPr>
        <p:spPr>
          <a:xfrm>
            <a:off x="4206240" y="2697480"/>
            <a:ext cx="2377440" cy="0"/>
          </a:xfrm>
          <a:prstGeom prst="line">
            <a:avLst/>
          </a:prstGeom>
          <a:ln w="38100">
            <a:solidFill>
              <a:srgbClr val="EB683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97680" y="2057400"/>
            <a:ext cx="2194560" cy="457200"/>
          </a:xfrm>
          <a:prstGeom prst="rect">
            <a:avLst/>
          </a:prstGeom>
          <a:noFill/>
        </p:spPr>
        <p:txBody>
          <a:bodyPr wrap="square" anchor="t" lIns="45720" rIns="45720">
            <a:spAutoFit/>
          </a:bodyPr>
          <a:lstStyle/>
          <a:p>
            <a:pPr algn="ctr">
              <a:spcAft>
                <a:spcPts val="675"/>
              </a:spcAft>
            </a:pPr>
            <a:r>
              <a:rPr sz="1500" b="0">
                <a:solidFill>
                  <a:srgbClr val="52514E"/>
                </a:solidFill>
                <a:latin typeface="Calibri"/>
              </a:rPr>
              <a:t>defined as “arbore”</a:t>
            </a:r>
          </a:p>
        </p:txBody>
      </p:sp>
      <p:cxnSp>
        <p:nvCxnSpPr>
          <p:cNvPr id="11" name="Connector 10"/>
          <p:cNvCxnSpPr/>
          <p:nvPr/>
        </p:nvCxnSpPr>
        <p:spPr>
          <a:xfrm flipH="1">
            <a:off x="4206240" y="3246120"/>
            <a:ext cx="2377440" cy="0"/>
          </a:xfrm>
          <a:prstGeom prst="line">
            <a:avLst/>
          </a:prstGeom>
          <a:ln w="38100">
            <a:solidFill>
              <a:srgbClr val="EB6834"/>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97680" y="3383280"/>
            <a:ext cx="2194560" cy="457200"/>
          </a:xfrm>
          <a:prstGeom prst="rect">
            <a:avLst/>
          </a:prstGeom>
          <a:noFill/>
        </p:spPr>
        <p:txBody>
          <a:bodyPr wrap="square" anchor="t" lIns="45720" rIns="45720">
            <a:spAutoFit/>
          </a:bodyPr>
          <a:lstStyle/>
          <a:p>
            <a:pPr algn="ctr">
              <a:spcAft>
                <a:spcPts val="675"/>
              </a:spcAft>
            </a:pPr>
            <a:r>
              <a:rPr sz="1500" b="0">
                <a:solidFill>
                  <a:srgbClr val="52514E"/>
                </a:solidFill>
                <a:latin typeface="Calibri"/>
              </a:rPr>
              <a:t>defined as “copac”</a:t>
            </a:r>
          </a:p>
        </p:txBody>
      </p:sp>
      <p:sp>
        <p:nvSpPr>
          <p:cNvPr id="13" name="TextBox 12"/>
          <p:cNvSpPr txBox="1"/>
          <p:nvPr/>
        </p:nvSpPr>
        <p:spPr>
          <a:xfrm>
            <a:off x="1280160" y="4206240"/>
            <a:ext cx="9601200" cy="1645920"/>
          </a:xfrm>
          <a:prstGeom prst="rect">
            <a:avLst/>
          </a:prstGeom>
          <a:noFill/>
        </p:spPr>
        <p:txBody>
          <a:bodyPr wrap="square" anchor="t" lIns="45720" rIns="45720">
            <a:spAutoFit/>
          </a:bodyPr>
          <a:lstStyle/>
          <a:p>
            <a:pPr algn="l">
              <a:spcAft>
                <a:spcPts val="1080"/>
              </a:spcAft>
            </a:pPr>
            <a:r>
              <a:rPr sz="2400" b="1" i="0">
                <a:solidFill>
                  <a:srgbClr val="0B0B0B"/>
                </a:solidFill>
                <a:latin typeface="Calibri"/>
              </a:rPr>
              <a:t>How many words must you already know </a:t>
            </a:r>
            <a:r>
              <a:rPr sz="2400" b="1" i="0">
                <a:solidFill>
                  <a:srgbClr val="2A78D6"/>
                </a:solidFill>
                <a:latin typeface="Calibri"/>
              </a:rPr>
              <a:t>before the dictionary can teach you all the others?</a:t>
            </a:r>
          </a:p>
          <a:p>
            <a:pPr algn="l">
              <a:spcAft>
                <a:spcPts val="1080"/>
              </a:spcAft>
            </a:pPr>
            <a:r>
              <a:rPr sz="2400" b="0">
                <a:solidFill>
                  <a:srgbClr val="0B0B0B"/>
                </a:solidFill>
                <a:latin typeface="Calibri"/>
              </a:rPr>
              <a:t>Somewhere the circle must be broken by words learned from experience, not from definitions (the symbol grounding problem, Harnad 1990).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THE METHOD (VINCENT-LAMARRE, HARNAD ET AL. 2016)</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Dictionaries as graphs: Kernel, Core, MinSet</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Oval 6"/>
          <p:cNvSpPr/>
          <p:nvPr/>
        </p:nvSpPr>
        <p:spPr>
          <a:xfrm>
            <a:off x="868680" y="1600200"/>
            <a:ext cx="4480560" cy="4480560"/>
          </a:xfrm>
          <a:prstGeom prst="ellipse">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240280"/>
            <a:ext cx="3200400" cy="3200400"/>
          </a:xfrm>
          <a:prstGeom prst="ellipse">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57400" y="2788920"/>
            <a:ext cx="2103120" cy="2103120"/>
          </a:xfrm>
          <a:prstGeom prst="ellipse">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06040" y="3337560"/>
            <a:ext cx="1005840" cy="10058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1783080"/>
            <a:ext cx="1828800" cy="365760"/>
          </a:xfrm>
          <a:prstGeom prst="rect">
            <a:avLst/>
          </a:prstGeom>
          <a:noFill/>
        </p:spPr>
        <p:txBody>
          <a:bodyPr wrap="square" anchor="t" lIns="45720" rIns="45720">
            <a:spAutoFit/>
          </a:bodyPr>
          <a:lstStyle/>
          <a:p>
            <a:pPr algn="ctr">
              <a:spcAft>
                <a:spcPts val="720"/>
              </a:spcAft>
            </a:pPr>
            <a:r>
              <a:rPr sz="1600" b="1">
                <a:solidFill>
                  <a:srgbClr val="52514E"/>
                </a:solidFill>
                <a:latin typeface="Calibri"/>
              </a:rPr>
              <a:t>Rest</a:t>
            </a:r>
          </a:p>
        </p:txBody>
      </p:sp>
      <p:sp>
        <p:nvSpPr>
          <p:cNvPr id="12" name="TextBox 11"/>
          <p:cNvSpPr txBox="1"/>
          <p:nvPr/>
        </p:nvSpPr>
        <p:spPr>
          <a:xfrm>
            <a:off x="2194560" y="2423160"/>
            <a:ext cx="1828800" cy="365760"/>
          </a:xfrm>
          <a:prstGeom prst="rect">
            <a:avLst/>
          </a:prstGeom>
          <a:noFill/>
        </p:spPr>
        <p:txBody>
          <a:bodyPr wrap="square" anchor="t" lIns="45720" rIns="45720">
            <a:spAutoFit/>
          </a:bodyPr>
          <a:lstStyle/>
          <a:p>
            <a:pPr algn="ctr">
              <a:spcAft>
                <a:spcPts val="720"/>
              </a:spcAft>
            </a:pPr>
            <a:r>
              <a:rPr sz="1600" b="1">
                <a:solidFill>
                  <a:srgbClr val="52514E"/>
                </a:solidFill>
                <a:latin typeface="Calibri"/>
              </a:rPr>
              <a:t>Kernel</a:t>
            </a:r>
          </a:p>
        </p:txBody>
      </p:sp>
      <p:sp>
        <p:nvSpPr>
          <p:cNvPr id="13" name="TextBox 12"/>
          <p:cNvSpPr txBox="1"/>
          <p:nvPr/>
        </p:nvSpPr>
        <p:spPr>
          <a:xfrm>
            <a:off x="2194560" y="2971800"/>
            <a:ext cx="1828800" cy="365760"/>
          </a:xfrm>
          <a:prstGeom prst="rect">
            <a:avLst/>
          </a:prstGeom>
          <a:noFill/>
        </p:spPr>
        <p:txBody>
          <a:bodyPr wrap="square" anchor="t" lIns="45720" rIns="45720">
            <a:spAutoFit/>
          </a:bodyPr>
          <a:lstStyle/>
          <a:p>
            <a:pPr algn="ctr">
              <a:spcAft>
                <a:spcPts val="720"/>
              </a:spcAft>
            </a:pPr>
            <a:r>
              <a:rPr sz="1600" b="1">
                <a:solidFill>
                  <a:srgbClr val="0B0B0B"/>
                </a:solidFill>
                <a:latin typeface="Calibri"/>
              </a:rPr>
              <a:t>Core</a:t>
            </a:r>
          </a:p>
        </p:txBody>
      </p:sp>
      <p:sp>
        <p:nvSpPr>
          <p:cNvPr id="14" name="TextBox 13"/>
          <p:cNvSpPr txBox="1"/>
          <p:nvPr/>
        </p:nvSpPr>
        <p:spPr>
          <a:xfrm>
            <a:off x="2194560" y="3611880"/>
            <a:ext cx="1828800" cy="365760"/>
          </a:xfrm>
          <a:prstGeom prst="rect">
            <a:avLst/>
          </a:prstGeom>
          <a:noFill/>
        </p:spPr>
        <p:txBody>
          <a:bodyPr wrap="square" anchor="t" lIns="45720" rIns="45720">
            <a:spAutoFit/>
          </a:bodyPr>
          <a:lstStyle/>
          <a:p>
            <a:pPr algn="ctr">
              <a:spcAft>
                <a:spcPts val="720"/>
              </a:spcAft>
            </a:pPr>
            <a:r>
              <a:rPr sz="1600" b="1">
                <a:solidFill>
                  <a:srgbClr val="FCFCFB"/>
                </a:solidFill>
                <a:latin typeface="Calibri"/>
              </a:rPr>
              <a:t>MinSet</a:t>
            </a:r>
          </a:p>
        </p:txBody>
      </p:sp>
      <p:sp>
        <p:nvSpPr>
          <p:cNvPr id="15" name="TextBox 14"/>
          <p:cNvSpPr txBox="1"/>
          <p:nvPr/>
        </p:nvSpPr>
        <p:spPr>
          <a:xfrm>
            <a:off x="6035040" y="1737360"/>
            <a:ext cx="5486400" cy="4206240"/>
          </a:xfrm>
          <a:prstGeom prst="rect">
            <a:avLst/>
          </a:prstGeom>
          <a:noFill/>
        </p:spPr>
        <p:txBody>
          <a:bodyPr wrap="square" anchor="t" lIns="45720" rIns="45720">
            <a:spAutoFit/>
          </a:bodyPr>
          <a:lstStyle/>
          <a:p>
            <a:pPr algn="l">
              <a:spcAft>
                <a:spcPts val="855"/>
              </a:spcAft>
            </a:pPr>
            <a:r>
              <a:rPr sz="1900" b="1" i="0">
                <a:solidFill>
                  <a:srgbClr val="0B0B0B"/>
                </a:solidFill>
                <a:latin typeface="Calibri"/>
              </a:rPr>
              <a:t>Graph: </a:t>
            </a:r>
            <a:r>
              <a:rPr sz="1900" b="0">
                <a:solidFill>
                  <a:srgbClr val="0B0B0B"/>
                </a:solidFill>
                <a:latin typeface="Calibri"/>
              </a:rPr>
              <a:t>an arrow from every defining word to the word it defines.</a:t>
            </a:r>
          </a:p>
          <a:p>
            <a:pPr algn="l">
              <a:spcAft>
                <a:spcPts val="855"/>
              </a:spcAft>
            </a:pPr>
            <a:r>
              <a:rPr sz="1900" b="1" i="0">
                <a:solidFill>
                  <a:srgbClr val="0B0B0B"/>
                </a:solidFill>
                <a:latin typeface="Calibri"/>
              </a:rPr>
              <a:t>Kernel: </a:t>
            </a:r>
            <a:r>
              <a:rPr sz="1900" b="0">
                <a:solidFill>
                  <a:srgbClr val="0B0B0B"/>
                </a:solidFill>
                <a:latin typeface="Calibri"/>
              </a:rPr>
              <a:t>what remains after repeatedly removing words that define nothing. Everything else can be defined from it.</a:t>
            </a:r>
          </a:p>
          <a:p>
            <a:pPr algn="l">
              <a:spcAft>
                <a:spcPts val="855"/>
              </a:spcAft>
            </a:pPr>
            <a:r>
              <a:rPr sz="1900" b="1" i="0">
                <a:solidFill>
                  <a:srgbClr val="0B0B0B"/>
                </a:solidFill>
                <a:latin typeface="Calibri"/>
              </a:rPr>
              <a:t>Core: </a:t>
            </a:r>
            <a:r>
              <a:rPr sz="1900" b="0">
                <a:solidFill>
                  <a:srgbClr val="0B0B0B"/>
                </a:solidFill>
                <a:latin typeface="Calibri"/>
              </a:rPr>
              <a:t>its largest strongly connected part.</a:t>
            </a:r>
          </a:p>
          <a:p>
            <a:pPr algn="l">
              <a:spcAft>
                <a:spcPts val="855"/>
              </a:spcAft>
            </a:pPr>
            <a:r>
              <a:rPr sz="1900" b="1" i="0">
                <a:solidFill>
                  <a:srgbClr val="0B0B0B"/>
                </a:solidFill>
                <a:latin typeface="Calibri"/>
              </a:rPr>
              <a:t>MinSet: </a:t>
            </a:r>
            <a:r>
              <a:rPr sz="1900" b="0">
                <a:solidFill>
                  <a:srgbClr val="0B0B0B"/>
                </a:solidFill>
                <a:latin typeface="Calibri"/>
              </a:rPr>
              <a:t>the smallest set of words from which the whole dictionary can be learned (an NP-hard problem).</a:t>
            </a:r>
          </a:p>
          <a:p>
            <a:pPr algn="l">
              <a:spcAft>
                <a:spcPts val="855"/>
              </a:spcAft>
            </a:pPr>
            <a:r>
              <a:rPr sz="1900" b="1" i="0">
                <a:solidFill>
                  <a:srgbClr val="2A78D6"/>
                </a:solidFill>
                <a:latin typeface="Calibri"/>
              </a:rPr>
              <a:t>English dictionaries: </a:t>
            </a:r>
            <a:r>
              <a:rPr sz="1900" b="0" i="0">
                <a:solidFill>
                  <a:srgbClr val="2A78D6"/>
                </a:solidFill>
                <a:latin typeface="Calibri"/>
              </a:rPr>
              <a:t>Kernel 7–12%, MinSet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GRAUR’S FUNDAMENTAL LEXICAL STOCK</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Romanian linguistics asked a similar question in 1954</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TextBox 6"/>
          <p:cNvSpPr txBox="1"/>
          <p:nvPr/>
        </p:nvSpPr>
        <p:spPr>
          <a:xfrm>
            <a:off x="640080" y="1737360"/>
            <a:ext cx="6400800" cy="4114800"/>
          </a:xfrm>
          <a:prstGeom prst="rect">
            <a:avLst/>
          </a:prstGeom>
          <a:noFill/>
        </p:spPr>
        <p:txBody>
          <a:bodyPr wrap="square" anchor="t" lIns="45720" rIns="45720">
            <a:spAutoFit/>
          </a:bodyPr>
          <a:lstStyle/>
          <a:p>
            <a:pPr algn="l">
              <a:spcAft>
                <a:spcPts val="900"/>
              </a:spcAft>
            </a:pPr>
            <a:r>
              <a:rPr sz="2000" b="1" i="0">
                <a:solidFill>
                  <a:srgbClr val="0B0B0B"/>
                </a:solidFill>
                <a:latin typeface="Calibri"/>
              </a:rPr>
              <a:t>Al. Graur, </a:t>
            </a:r>
            <a:r>
              <a:rPr sz="2000" b="0" i="1">
                <a:solidFill>
                  <a:srgbClr val="0B0B0B"/>
                </a:solidFill>
                <a:latin typeface="Calibri"/>
              </a:rPr>
              <a:t>Încercare asupra fondului principal lexical al limbii romîne</a:t>
            </a:r>
            <a:r>
              <a:rPr sz="2000" b="0">
                <a:solidFill>
                  <a:srgbClr val="0B0B0B"/>
                </a:solidFill>
                <a:latin typeface="Calibri"/>
              </a:rPr>
              <a:t> (1954)</a:t>
            </a:r>
          </a:p>
          <a:p>
            <a:pPr algn="l">
              <a:spcAft>
                <a:spcPts val="900"/>
              </a:spcAft>
            </a:pPr>
            <a:r>
              <a:rPr sz="2000" b="0">
                <a:solidFill>
                  <a:srgbClr val="0B0B0B"/>
                </a:solidFill>
                <a:latin typeface="Calibri"/>
              </a:rPr>
              <a:t>1,419 words, in three circles of certainty (964 · 217 · 238), each labelled with its origin.</a:t>
            </a:r>
          </a:p>
          <a:p>
            <a:pPr algn="l">
              <a:spcAft>
                <a:spcPts val="900"/>
              </a:spcAft>
            </a:pPr>
            <a:r>
              <a:rPr sz="2000" b="0">
                <a:solidFill>
                  <a:srgbClr val="0B0B0B"/>
                </a:solidFill>
                <a:latin typeface="Calibri"/>
              </a:rPr>
              <a:t>Criteria: used by the whole people, old and stable, productive, rich in expressions.</a:t>
            </a:r>
          </a:p>
          <a:p>
            <a:pPr algn="l">
              <a:spcAft>
                <a:spcPts val="900"/>
              </a:spcAft>
            </a:pPr>
            <a:r>
              <a:rPr sz="2000" b="1" i="0">
                <a:solidFill>
                  <a:srgbClr val="0B0B0B"/>
                </a:solidFill>
                <a:latin typeface="Calibri"/>
              </a:rPr>
              <a:t>His own test: </a:t>
            </a:r>
            <a:r>
              <a:rPr sz="2000" b="0">
                <a:solidFill>
                  <a:srgbClr val="0B0B0B"/>
                </a:solidFill>
                <a:latin typeface="Calibri"/>
              </a:rPr>
              <a:t>a core word occupies a large space in dictionaries (pp. 24–25).</a:t>
            </a:r>
          </a:p>
          <a:p>
            <a:pPr algn="l">
              <a:spcAft>
                <a:spcPts val="900"/>
              </a:spcAft>
            </a:pPr>
            <a:r>
              <a:rPr sz="2000" b="0" i="0">
                <a:solidFill>
                  <a:srgbClr val="52514E"/>
                </a:solidFill>
                <a:latin typeface="Calibri"/>
              </a:rPr>
              <a:t>He called the selection subjective </a:t>
            </a:r>
            <a:r>
              <a:rPr sz="2000" b="0" i="0">
                <a:solidFill>
                  <a:srgbClr val="52514E"/>
                </a:solidFill>
                <a:latin typeface="Calibri"/>
              </a:rPr>
              <a:t>(1957). We treat it as a historical hypothesis, not a gold standard.</a:t>
            </a:r>
          </a:p>
        </p:txBody>
      </p:sp>
      <p:sp>
        <p:nvSpPr>
          <p:cNvPr id="8" name="Rounded Rectangle 7"/>
          <p:cNvSpPr/>
          <p:nvPr/>
        </p:nvSpPr>
        <p:spPr>
          <a:xfrm>
            <a:off x="7589520" y="1828800"/>
            <a:ext cx="3931920" cy="3566160"/>
          </a:xfrm>
          <a:prstGeom prst="roundRect">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2011680"/>
            <a:ext cx="3566160" cy="3291840"/>
          </a:xfrm>
          <a:prstGeom prst="rect">
            <a:avLst/>
          </a:prstGeom>
          <a:noFill/>
        </p:spPr>
        <p:txBody>
          <a:bodyPr wrap="square" anchor="t" lIns="45720" rIns="45720">
            <a:spAutoFit/>
          </a:bodyPr>
          <a:lstStyle/>
          <a:p>
            <a:pPr algn="l">
              <a:spcAft>
                <a:spcPts val="765"/>
              </a:spcAft>
            </a:pPr>
            <a:r>
              <a:rPr sz="1700" b="1" i="0">
                <a:solidFill>
                  <a:srgbClr val="0B0B0B"/>
                </a:solidFill>
                <a:latin typeface="Calibri"/>
              </a:rPr>
              <a:t>We transcribed the list</a:t>
            </a:r>
          </a:p>
          <a:p>
            <a:pPr algn="l">
              <a:spcAft>
                <a:spcPts val="765"/>
              </a:spcAft>
            </a:pPr>
            <a:r>
              <a:rPr sz="1700" b="0">
                <a:solidFill>
                  <a:srgbClr val="0B0B0B"/>
                </a:solidFill>
                <a:latin typeface="Calibri"/>
              </a:rPr>
              <a:t>1,419 entries · Slavic share 21.49% (exactly as published)</a:t>
            </a:r>
          </a:p>
          <a:p>
            <a:pPr algn="l">
              <a:spcAft>
                <a:spcPts val="765"/>
              </a:spcAft>
            </a:pPr>
            <a:r>
              <a:rPr sz="1700" b="0">
                <a:solidFill>
                  <a:srgbClr val="0B0B0B"/>
                </a:solidFill>
                <a:latin typeface="Calibri"/>
              </a:rPr>
              <a:t>1,416 linked to DEX headwords</a:t>
            </a:r>
          </a:p>
          <a:p>
            <a:pPr algn="l">
              <a:spcAft>
                <a:spcPts val="765"/>
              </a:spcAft>
            </a:pPr>
            <a:r>
              <a:rPr sz="1700" b="0">
                <a:solidFill>
                  <a:srgbClr val="0B0B0B"/>
                </a:solidFill>
                <a:latin typeface="Calibri"/>
              </a:rPr>
              <a:t>Graur left out arbore because it competes with copac, pom, lemn (p.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DATA AND METHOD</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Reading the whole DEX, with a language model as an instrument</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TextBox 6"/>
          <p:cNvSpPr txBox="1"/>
          <p:nvPr/>
        </p:nvSpPr>
        <p:spPr>
          <a:xfrm>
            <a:off x="640080" y="1737360"/>
            <a:ext cx="3291840" cy="914400"/>
          </a:xfrm>
          <a:prstGeom prst="rect">
            <a:avLst/>
          </a:prstGeom>
          <a:noFill/>
        </p:spPr>
        <p:txBody>
          <a:bodyPr wrap="square" anchor="t" lIns="45720" rIns="45720">
            <a:spAutoFit/>
          </a:bodyPr>
          <a:lstStyle/>
          <a:p>
            <a:pPr algn="l">
              <a:spcAft>
                <a:spcPts val="2430"/>
              </a:spcAft>
            </a:pPr>
            <a:r>
              <a:rPr sz="5400" b="1">
                <a:solidFill>
                  <a:srgbClr val="2A78D6"/>
                </a:solidFill>
                <a:latin typeface="Calibri"/>
              </a:rPr>
              <a:t>65,452</a:t>
            </a:r>
          </a:p>
        </p:txBody>
      </p:sp>
      <p:sp>
        <p:nvSpPr>
          <p:cNvPr id="8" name="TextBox 7"/>
          <p:cNvSpPr txBox="1"/>
          <p:nvPr/>
        </p:nvSpPr>
        <p:spPr>
          <a:xfrm>
            <a:off x="640080" y="2651760"/>
            <a:ext cx="3291840" cy="914400"/>
          </a:xfrm>
          <a:prstGeom prst="rect">
            <a:avLst/>
          </a:prstGeom>
          <a:noFill/>
        </p:spPr>
        <p:txBody>
          <a:bodyPr wrap="square" anchor="t" lIns="45720" rIns="45720">
            <a:spAutoFit/>
          </a:bodyPr>
          <a:lstStyle/>
          <a:p>
            <a:pPr algn="l">
              <a:spcAft>
                <a:spcPts val="765"/>
              </a:spcAft>
            </a:pPr>
            <a:r>
              <a:rPr sz="1700" b="0">
                <a:solidFill>
                  <a:srgbClr val="52514E"/>
                </a:solidFill>
                <a:latin typeface="Calibri"/>
              </a:rPr>
              <a:t>definitions, DEX 2nd edition (dexonline, GPL)</a:t>
            </a:r>
          </a:p>
        </p:txBody>
      </p:sp>
      <p:sp>
        <p:nvSpPr>
          <p:cNvPr id="9" name="TextBox 8"/>
          <p:cNvSpPr txBox="1"/>
          <p:nvPr/>
        </p:nvSpPr>
        <p:spPr>
          <a:xfrm>
            <a:off x="4297680" y="1737360"/>
            <a:ext cx="3291840" cy="914400"/>
          </a:xfrm>
          <a:prstGeom prst="rect">
            <a:avLst/>
          </a:prstGeom>
          <a:noFill/>
        </p:spPr>
        <p:txBody>
          <a:bodyPr wrap="square" anchor="t" lIns="45720" rIns="45720">
            <a:spAutoFit/>
          </a:bodyPr>
          <a:lstStyle/>
          <a:p>
            <a:pPr algn="l">
              <a:spcAft>
                <a:spcPts val="2430"/>
              </a:spcAft>
            </a:pPr>
            <a:r>
              <a:rPr sz="5400" b="1">
                <a:solidFill>
                  <a:srgbClr val="2A78D6"/>
                </a:solidFill>
                <a:latin typeface="Calibri"/>
              </a:rPr>
              <a:t>63,843</a:t>
            </a:r>
          </a:p>
        </p:txBody>
      </p:sp>
      <p:sp>
        <p:nvSpPr>
          <p:cNvPr id="10" name="TextBox 9"/>
          <p:cNvSpPr txBox="1"/>
          <p:nvPr/>
        </p:nvSpPr>
        <p:spPr>
          <a:xfrm>
            <a:off x="4297680" y="2651760"/>
            <a:ext cx="3291840" cy="914400"/>
          </a:xfrm>
          <a:prstGeom prst="rect">
            <a:avLst/>
          </a:prstGeom>
          <a:noFill/>
        </p:spPr>
        <p:txBody>
          <a:bodyPr wrap="square" anchor="t" lIns="45720" rIns="45720">
            <a:spAutoFit/>
          </a:bodyPr>
          <a:lstStyle/>
          <a:p>
            <a:pPr algn="l">
              <a:spcAft>
                <a:spcPts val="765"/>
              </a:spcAft>
            </a:pPr>
            <a:r>
              <a:rPr sz="1700" b="0">
                <a:solidFill>
                  <a:srgbClr val="52514E"/>
                </a:solidFill>
                <a:latin typeface="Calibri"/>
              </a:rPr>
              <a:t>headwords (DEX ’98 completed with DEX ’96 for G–I)</a:t>
            </a:r>
          </a:p>
        </p:txBody>
      </p:sp>
      <p:sp>
        <p:nvSpPr>
          <p:cNvPr id="11" name="TextBox 10"/>
          <p:cNvSpPr txBox="1"/>
          <p:nvPr/>
        </p:nvSpPr>
        <p:spPr>
          <a:xfrm>
            <a:off x="7955279" y="1737360"/>
            <a:ext cx="3291840" cy="914400"/>
          </a:xfrm>
          <a:prstGeom prst="rect">
            <a:avLst/>
          </a:prstGeom>
          <a:noFill/>
        </p:spPr>
        <p:txBody>
          <a:bodyPr wrap="square" anchor="t" lIns="45720" rIns="45720">
            <a:spAutoFit/>
          </a:bodyPr>
          <a:lstStyle/>
          <a:p>
            <a:pPr algn="l">
              <a:spcAft>
                <a:spcPts val="2430"/>
              </a:spcAft>
            </a:pPr>
            <a:r>
              <a:rPr sz="5400" b="1">
                <a:solidFill>
                  <a:srgbClr val="EB6834"/>
                </a:solidFill>
                <a:latin typeface="Calibri"/>
              </a:rPr>
              <a:t>26%</a:t>
            </a:r>
          </a:p>
        </p:txBody>
      </p:sp>
      <p:sp>
        <p:nvSpPr>
          <p:cNvPr id="12" name="TextBox 11"/>
          <p:cNvSpPr txBox="1"/>
          <p:nvPr/>
        </p:nvSpPr>
        <p:spPr>
          <a:xfrm>
            <a:off x="7955279" y="2651760"/>
            <a:ext cx="3291840" cy="914400"/>
          </a:xfrm>
          <a:prstGeom prst="rect">
            <a:avLst/>
          </a:prstGeom>
          <a:noFill/>
        </p:spPr>
        <p:txBody>
          <a:bodyPr wrap="square" anchor="t" lIns="45720" rIns="45720">
            <a:spAutoFit/>
          </a:bodyPr>
          <a:lstStyle/>
          <a:p>
            <a:pPr algn="l">
              <a:spcAft>
                <a:spcPts val="765"/>
              </a:spcAft>
            </a:pPr>
            <a:r>
              <a:rPr sz="1700" b="0">
                <a:solidFill>
                  <a:srgbClr val="52514E"/>
                </a:solidFill>
                <a:latin typeface="Calibri"/>
              </a:rPr>
              <a:t>of word forms in definitions are ambiguous</a:t>
            </a:r>
          </a:p>
        </p:txBody>
      </p:sp>
      <p:sp>
        <p:nvSpPr>
          <p:cNvPr id="13" name="TextBox 12"/>
          <p:cNvSpPr txBox="1"/>
          <p:nvPr/>
        </p:nvSpPr>
        <p:spPr>
          <a:xfrm>
            <a:off x="640080" y="3886200"/>
            <a:ext cx="10972800" cy="2194560"/>
          </a:xfrm>
          <a:prstGeom prst="rect">
            <a:avLst/>
          </a:prstGeom>
          <a:noFill/>
        </p:spPr>
        <p:txBody>
          <a:bodyPr wrap="square" anchor="t" lIns="45720" rIns="45720">
            <a:spAutoFit/>
          </a:bodyPr>
          <a:lstStyle/>
          <a:p>
            <a:pPr algn="l">
              <a:spcAft>
                <a:spcPts val="900"/>
              </a:spcAft>
            </a:pPr>
            <a:r>
              <a:rPr sz="2000" b="0" i="1">
                <a:solidFill>
                  <a:srgbClr val="0B0B0B"/>
                </a:solidFill>
                <a:latin typeface="Calibri"/>
              </a:rPr>
              <a:t>are</a:t>
            </a:r>
            <a:r>
              <a:rPr sz="2000" b="0">
                <a:solidFill>
                  <a:srgbClr val="0B0B0B"/>
                </a:solidFill>
                <a:latin typeface="Calibri"/>
              </a:rPr>
              <a:t> → avea or ara?   </a:t>
            </a:r>
            <a:r>
              <a:rPr sz="2000" b="0" i="1">
                <a:solidFill>
                  <a:srgbClr val="0B0B0B"/>
                </a:solidFill>
                <a:latin typeface="Calibri"/>
              </a:rPr>
              <a:t>fire</a:t>
            </a:r>
            <a:r>
              <a:rPr sz="2000" b="0">
                <a:solidFill>
                  <a:srgbClr val="0B0B0B"/>
                </a:solidFill>
                <a:latin typeface="Calibri"/>
              </a:rPr>
              <a:t> → fi, fir or fire?</a:t>
            </a:r>
          </a:p>
          <a:p>
            <a:pPr algn="l">
              <a:spcAft>
                <a:spcPts val="900"/>
              </a:spcAft>
            </a:pPr>
            <a:r>
              <a:rPr sz="2000" b="1" i="0">
                <a:solidFill>
                  <a:srgbClr val="0B0B0B"/>
                </a:solidFill>
                <a:latin typeface="Calibri"/>
              </a:rPr>
              <a:t>Claude Haiku 4.5 </a:t>
            </a:r>
            <a:r>
              <a:rPr sz="2000" b="0">
                <a:solidFill>
                  <a:srgbClr val="0B0B0B"/>
                </a:solidFill>
                <a:latin typeface="Calibri"/>
              </a:rPr>
              <a:t>reads each definition and picks the lemma; a stronger model (Claude Opus 5) checks a random sample: </a:t>
            </a:r>
            <a:r>
              <a:rPr sz="2000" b="1" i="0">
                <a:solidFill>
                  <a:srgbClr val="2A78D6"/>
                </a:solidFill>
                <a:latin typeface="Calibri"/>
              </a:rPr>
              <a:t>87% agreement on content words.</a:t>
            </a:r>
          </a:p>
          <a:p>
            <a:pPr algn="l">
              <a:spcAft>
                <a:spcPts val="900"/>
              </a:spcAft>
            </a:pPr>
            <a:r>
              <a:rPr sz="2000" b="0">
                <a:solidFill>
                  <a:srgbClr val="0B0B0B"/>
                </a:solidFill>
                <a:latin typeface="Calibri"/>
              </a:rPr>
              <a:t>Cost ≈ 23 USD. Every result is repeated without the model (frequency rule, all candidates).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RESULT 1</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The DEX has a very large hidden core</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pic>
        <p:nvPicPr>
          <p:cNvPr id="7" name="Picture 6" descr="fig1_size.png"/>
          <p:cNvPicPr>
            <a:picLocks noChangeAspect="1"/>
          </p:cNvPicPr>
          <p:nvPr/>
        </p:nvPicPr>
        <p:blipFill>
          <a:blip r:embed="rId3"/>
          <a:stretch>
            <a:fillRect/>
          </a:stretch>
        </p:blipFill>
        <p:spPr>
          <a:xfrm>
            <a:off x="640080" y="1737360"/>
            <a:ext cx="6675120" cy="3017154"/>
          </a:xfrm>
          <a:prstGeom prst="rect">
            <a:avLst/>
          </a:prstGeom>
        </p:spPr>
      </p:pic>
      <p:sp>
        <p:nvSpPr>
          <p:cNvPr id="8" name="TextBox 7"/>
          <p:cNvSpPr txBox="1"/>
          <p:nvPr/>
        </p:nvSpPr>
        <p:spPr>
          <a:xfrm>
            <a:off x="7863840" y="1737360"/>
            <a:ext cx="3291840" cy="914400"/>
          </a:xfrm>
          <a:prstGeom prst="rect">
            <a:avLst/>
          </a:prstGeom>
          <a:noFill/>
        </p:spPr>
        <p:txBody>
          <a:bodyPr wrap="square" anchor="t" lIns="45720" rIns="45720">
            <a:spAutoFit/>
          </a:bodyPr>
          <a:lstStyle/>
          <a:p>
            <a:pPr algn="l">
              <a:spcAft>
                <a:spcPts val="2430"/>
              </a:spcAft>
            </a:pPr>
            <a:r>
              <a:rPr sz="5400" b="1">
                <a:solidFill>
                  <a:srgbClr val="2A78D6"/>
                </a:solidFill>
                <a:latin typeface="Calibri"/>
              </a:rPr>
              <a:t>33%</a:t>
            </a:r>
          </a:p>
        </p:txBody>
      </p:sp>
      <p:sp>
        <p:nvSpPr>
          <p:cNvPr id="9" name="TextBox 8"/>
          <p:cNvSpPr txBox="1"/>
          <p:nvPr/>
        </p:nvSpPr>
        <p:spPr>
          <a:xfrm>
            <a:off x="7863840" y="2651760"/>
            <a:ext cx="3291840" cy="914400"/>
          </a:xfrm>
          <a:prstGeom prst="rect">
            <a:avLst/>
          </a:prstGeom>
          <a:noFill/>
        </p:spPr>
        <p:txBody>
          <a:bodyPr wrap="square" anchor="t" lIns="45720" rIns="45720">
            <a:spAutoFit/>
          </a:bodyPr>
          <a:lstStyle/>
          <a:p>
            <a:pPr algn="l">
              <a:spcAft>
                <a:spcPts val="765"/>
              </a:spcAft>
            </a:pPr>
            <a:r>
              <a:rPr sz="1700" b="0">
                <a:solidFill>
                  <a:srgbClr val="52514E"/>
                </a:solidFill>
                <a:latin typeface="Calibri"/>
              </a:rPr>
              <a:t>of headwords in the Kernel (21,216 words)</a:t>
            </a:r>
          </a:p>
        </p:txBody>
      </p:sp>
      <p:sp>
        <p:nvSpPr>
          <p:cNvPr id="10" name="TextBox 9"/>
          <p:cNvSpPr txBox="1"/>
          <p:nvPr/>
        </p:nvSpPr>
        <p:spPr>
          <a:xfrm>
            <a:off x="7863840" y="3749039"/>
            <a:ext cx="4023360" cy="914400"/>
          </a:xfrm>
          <a:prstGeom prst="rect">
            <a:avLst/>
          </a:prstGeom>
          <a:noFill/>
        </p:spPr>
        <p:txBody>
          <a:bodyPr wrap="square" anchor="t" lIns="45720" rIns="45720">
            <a:spAutoFit/>
          </a:bodyPr>
          <a:lstStyle/>
          <a:p>
            <a:pPr algn="l">
              <a:spcAft>
                <a:spcPts val="2430"/>
              </a:spcAft>
            </a:pPr>
            <a:r>
              <a:rPr sz="5400" b="1">
                <a:solidFill>
                  <a:srgbClr val="EB6834"/>
                </a:solidFill>
                <a:latin typeface="Calibri"/>
              </a:rPr>
              <a:t>9.7–9.9%</a:t>
            </a:r>
          </a:p>
        </p:txBody>
      </p:sp>
      <p:sp>
        <p:nvSpPr>
          <p:cNvPr id="11" name="TextBox 10"/>
          <p:cNvSpPr txBox="1"/>
          <p:nvPr/>
        </p:nvSpPr>
        <p:spPr>
          <a:xfrm>
            <a:off x="7863840" y="4663439"/>
            <a:ext cx="4023360" cy="914400"/>
          </a:xfrm>
          <a:prstGeom prst="rect">
            <a:avLst/>
          </a:prstGeom>
          <a:noFill/>
        </p:spPr>
        <p:txBody>
          <a:bodyPr wrap="square" anchor="t" lIns="45720" rIns="45720">
            <a:spAutoFit/>
          </a:bodyPr>
          <a:lstStyle/>
          <a:p>
            <a:pPr algn="l">
              <a:spcAft>
                <a:spcPts val="765"/>
              </a:spcAft>
            </a:pPr>
            <a:r>
              <a:rPr sz="1700" b="0">
                <a:solidFill>
                  <a:srgbClr val="52514E"/>
                </a:solidFill>
                <a:latin typeface="Calibri"/>
              </a:rPr>
              <a:t>MinSet: 6,193–6,325 words (proven lower and upper bounds)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RESULT 2</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Why? Definition by synonym</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Rounded Rectangle 6"/>
          <p:cNvSpPr/>
          <p:nvPr/>
        </p:nvSpPr>
        <p:spPr>
          <a:xfrm>
            <a:off x="640080" y="1783080"/>
            <a:ext cx="3474720" cy="914400"/>
          </a:xfrm>
          <a:prstGeom prst="round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i="1">
                <a:solidFill>
                  <a:srgbClr val="0B0B0B"/>
                </a:solidFill>
                <a:latin typeface="Calibri"/>
              </a:rPr>
              <a:t>arbore  ⇄  copac</a:t>
            </a:r>
          </a:p>
        </p:txBody>
      </p:sp>
      <p:sp>
        <p:nvSpPr>
          <p:cNvPr id="8" name="Rounded Rectangle 7"/>
          <p:cNvSpPr/>
          <p:nvPr/>
        </p:nvSpPr>
        <p:spPr>
          <a:xfrm>
            <a:off x="4389120" y="1783080"/>
            <a:ext cx="3474720" cy="914400"/>
          </a:xfrm>
          <a:prstGeom prst="round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i="1">
                <a:solidFill>
                  <a:srgbClr val="0B0B0B"/>
                </a:solidFill>
                <a:latin typeface="Calibri"/>
              </a:rPr>
              <a:t>amabil  ⇄  binevoitor</a:t>
            </a:r>
          </a:p>
        </p:txBody>
      </p:sp>
      <p:sp>
        <p:nvSpPr>
          <p:cNvPr id="9" name="Rounded Rectangle 8"/>
          <p:cNvSpPr/>
          <p:nvPr/>
        </p:nvSpPr>
        <p:spPr>
          <a:xfrm>
            <a:off x="8138159" y="1783080"/>
            <a:ext cx="3474720" cy="914400"/>
          </a:xfrm>
          <a:prstGeom prst="round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i="1">
                <a:solidFill>
                  <a:srgbClr val="0B0B0B"/>
                </a:solidFill>
                <a:latin typeface="Calibri"/>
              </a:rPr>
              <a:t>primejdie  ⇄  risc</a:t>
            </a:r>
          </a:p>
        </p:txBody>
      </p:sp>
      <p:sp>
        <p:nvSpPr>
          <p:cNvPr id="10" name="Rounded Rectangle 9"/>
          <p:cNvSpPr/>
          <p:nvPr/>
        </p:nvSpPr>
        <p:spPr>
          <a:xfrm>
            <a:off x="640080" y="2926080"/>
            <a:ext cx="3474720" cy="914400"/>
          </a:xfrm>
          <a:prstGeom prst="round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i="1">
                <a:solidFill>
                  <a:srgbClr val="0B0B0B"/>
                </a:solidFill>
                <a:latin typeface="Calibri"/>
              </a:rPr>
              <a:t>balenă  ⇄  chit</a:t>
            </a:r>
          </a:p>
        </p:txBody>
      </p:sp>
      <p:sp>
        <p:nvSpPr>
          <p:cNvPr id="11" name="Rounded Rectangle 10"/>
          <p:cNvSpPr/>
          <p:nvPr/>
        </p:nvSpPr>
        <p:spPr>
          <a:xfrm>
            <a:off x="4389120" y="2926080"/>
            <a:ext cx="3474720" cy="914400"/>
          </a:xfrm>
          <a:prstGeom prst="round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i="1">
                <a:solidFill>
                  <a:srgbClr val="0B0B0B"/>
                </a:solidFill>
                <a:latin typeface="Calibri"/>
              </a:rPr>
              <a:t>capelă  ⇄  paraclis</a:t>
            </a:r>
          </a:p>
        </p:txBody>
      </p:sp>
      <p:sp>
        <p:nvSpPr>
          <p:cNvPr id="12" name="Rounded Rectangle 11"/>
          <p:cNvSpPr/>
          <p:nvPr/>
        </p:nvSpPr>
        <p:spPr>
          <a:xfrm>
            <a:off x="8138159" y="2926080"/>
            <a:ext cx="3474720" cy="914400"/>
          </a:xfrm>
          <a:prstGeom prst="round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i="1">
                <a:solidFill>
                  <a:srgbClr val="0B0B0B"/>
                </a:solidFill>
                <a:latin typeface="Calibri"/>
              </a:rPr>
              <a:t>apuca  ⇄  înșfăca</a:t>
            </a:r>
          </a:p>
        </p:txBody>
      </p:sp>
      <p:sp>
        <p:nvSpPr>
          <p:cNvPr id="13" name="TextBox 12"/>
          <p:cNvSpPr txBox="1"/>
          <p:nvPr/>
        </p:nvSpPr>
        <p:spPr>
          <a:xfrm>
            <a:off x="640080" y="4251960"/>
            <a:ext cx="10972800" cy="1828800"/>
          </a:xfrm>
          <a:prstGeom prst="rect">
            <a:avLst/>
          </a:prstGeom>
          <a:noFill/>
        </p:spPr>
        <p:txBody>
          <a:bodyPr wrap="square" anchor="t" lIns="45720" rIns="45720">
            <a:spAutoFit/>
          </a:bodyPr>
          <a:lstStyle/>
          <a:p>
            <a:pPr algn="l">
              <a:spcAft>
                <a:spcPts val="900"/>
              </a:spcAft>
            </a:pPr>
            <a:r>
              <a:rPr sz="2000" b="1" i="0">
                <a:solidFill>
                  <a:srgbClr val="2A78D6"/>
                </a:solidFill>
                <a:latin typeface="Calibri"/>
              </a:rPr>
              <a:t>8,761 pairs of words define each other</a:t>
            </a:r>
            <a:r>
              <a:rPr sz="2000" b="0">
                <a:solidFill>
                  <a:srgbClr val="0B0B0B"/>
                </a:solidFill>
                <a:latin typeface="Calibri"/>
              </a:rPr>
              <a:t> (29% share a stem; most others are synonyms).</a:t>
            </a:r>
          </a:p>
          <a:p>
            <a:pPr algn="l">
              <a:spcAft>
                <a:spcPts val="900"/>
              </a:spcAft>
            </a:pPr>
            <a:r>
              <a:rPr sz="2000" b="0">
                <a:solidFill>
                  <a:srgbClr val="0B0B0B"/>
                </a:solidFill>
                <a:latin typeface="Calibri"/>
              </a:rPr>
              <a:t>Each pair forces one word into the MinSet: 98% of the disjoint cycles are such pairs.</a:t>
            </a:r>
          </a:p>
          <a:p>
            <a:pPr algn="l">
              <a:spcAft>
                <a:spcPts val="900"/>
              </a:spcAft>
            </a:pPr>
            <a:r>
              <a:rPr sz="2000" b="0">
                <a:solidFill>
                  <a:srgbClr val="0B0B0B"/>
                </a:solidFill>
                <a:latin typeface="Calibri"/>
              </a:rPr>
              <a:t>English learner dictionaries use a controlled defining vocabulary; the DEX defines by synonym.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ROBUSTNESS</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The conclusion does not depend on the AI</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pic>
        <p:nvPicPr>
          <p:cNvPr id="7" name="Picture 6" descr="fig3_robustness.png"/>
          <p:cNvPicPr>
            <a:picLocks noChangeAspect="1"/>
          </p:cNvPicPr>
          <p:nvPr/>
        </p:nvPicPr>
        <p:blipFill>
          <a:blip r:embed="rId3"/>
          <a:stretch>
            <a:fillRect/>
          </a:stretch>
        </p:blipFill>
        <p:spPr>
          <a:xfrm>
            <a:off x="640080" y="1737360"/>
            <a:ext cx="6949440" cy="2745705"/>
          </a:xfrm>
          <a:prstGeom prst="rect">
            <a:avLst/>
          </a:prstGeom>
        </p:spPr>
      </p:pic>
      <p:sp>
        <p:nvSpPr>
          <p:cNvPr id="8" name="TextBox 7"/>
          <p:cNvSpPr txBox="1"/>
          <p:nvPr/>
        </p:nvSpPr>
        <p:spPr>
          <a:xfrm>
            <a:off x="7955279" y="1828800"/>
            <a:ext cx="3840480" cy="4023360"/>
          </a:xfrm>
          <a:prstGeom prst="rect">
            <a:avLst/>
          </a:prstGeom>
          <a:noFill/>
        </p:spPr>
        <p:txBody>
          <a:bodyPr wrap="square" anchor="t" lIns="45720" rIns="45720">
            <a:spAutoFit/>
          </a:bodyPr>
          <a:lstStyle/>
          <a:p>
            <a:pPr algn="l">
              <a:spcAft>
                <a:spcPts val="855"/>
              </a:spcAft>
            </a:pPr>
            <a:r>
              <a:rPr sz="1900" b="0">
                <a:solidFill>
                  <a:srgbClr val="0B0B0B"/>
                </a:solidFill>
                <a:latin typeface="Calibri"/>
              </a:rPr>
              <a:t>Three ways of resolving ambiguous forms: the most frequent lemma, the language model, all candidates.</a:t>
            </a:r>
          </a:p>
          <a:p>
            <a:pPr algn="l">
              <a:spcAft>
                <a:spcPts val="855"/>
              </a:spcAft>
            </a:pPr>
            <a:r>
              <a:rPr sz="1900" b="1" i="0">
                <a:solidFill>
                  <a:srgbClr val="0B0B0B"/>
                </a:solidFill>
                <a:latin typeface="Calibri"/>
              </a:rPr>
              <a:t>Same picture every time: </a:t>
            </a:r>
            <a:r>
              <a:rPr sz="1900" b="0">
                <a:solidFill>
                  <a:srgbClr val="0B0B0B"/>
                </a:solidFill>
                <a:latin typeface="Calibri"/>
              </a:rPr>
              <a:t>a Kernel of 29–36% and a MinSet of 7.5–10.9%.</a:t>
            </a:r>
          </a:p>
          <a:p>
            <a:pPr algn="l">
              <a:spcAft>
                <a:spcPts val="855"/>
              </a:spcAft>
            </a:pPr>
            <a:r>
              <a:rPr sz="1900" b="0">
                <a:solidFill>
                  <a:srgbClr val="0B0B0B"/>
                </a:solidFill>
                <a:latin typeface="Calibri"/>
              </a:rPr>
              <a:t>Correct lemmas reveal more reciprocal pairs.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RESULT 3</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The core is linguistically real</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pic>
        <p:nvPicPr>
          <p:cNvPr id="7" name="Picture 6" descr="fig2_enrichment.png"/>
          <p:cNvPicPr>
            <a:picLocks noChangeAspect="1"/>
          </p:cNvPicPr>
          <p:nvPr/>
        </p:nvPicPr>
        <p:blipFill>
          <a:blip r:embed="rId3"/>
          <a:stretch>
            <a:fillRect/>
          </a:stretch>
        </p:blipFill>
        <p:spPr>
          <a:xfrm>
            <a:off x="548640" y="1691640"/>
            <a:ext cx="7589520" cy="3095167"/>
          </a:xfrm>
          <a:prstGeom prst="rect">
            <a:avLst/>
          </a:prstGeom>
        </p:spPr>
      </p:pic>
      <p:sp>
        <p:nvSpPr>
          <p:cNvPr id="8" name="TextBox 7"/>
          <p:cNvSpPr txBox="1"/>
          <p:nvPr/>
        </p:nvSpPr>
        <p:spPr>
          <a:xfrm>
            <a:off x="8412480" y="1828800"/>
            <a:ext cx="3474720" cy="4023360"/>
          </a:xfrm>
          <a:prstGeom prst="rect">
            <a:avLst/>
          </a:prstGeom>
          <a:noFill/>
        </p:spPr>
        <p:txBody>
          <a:bodyPr wrap="square" anchor="t" lIns="45720" rIns="45720">
            <a:spAutoFit/>
          </a:bodyPr>
          <a:lstStyle/>
          <a:p>
            <a:pPr algn="l">
              <a:spcAft>
                <a:spcPts val="810"/>
              </a:spcAft>
            </a:pPr>
            <a:r>
              <a:rPr sz="3000" b="1" i="0">
                <a:solidFill>
                  <a:srgbClr val="2A78D6"/>
                </a:solidFill>
                <a:latin typeface="Calibri"/>
              </a:rPr>
              <a:t>98%</a:t>
            </a:r>
            <a:r>
              <a:rPr sz="1800" b="0">
                <a:solidFill>
                  <a:srgbClr val="0B0B0B"/>
                </a:solidFill>
                <a:latin typeface="Calibri"/>
              </a:rPr>
              <a:t> of the Swadesh list (about 200 basic meanings used in comparative linguistics) in the Kernel</a:t>
            </a:r>
          </a:p>
          <a:p>
            <a:pPr algn="l">
              <a:spcAft>
                <a:spcPts val="810"/>
              </a:spcAft>
            </a:pPr>
            <a:r>
              <a:rPr sz="3000" b="1" i="0">
                <a:solidFill>
                  <a:srgbClr val="2A78D6"/>
                </a:solidFill>
                <a:latin typeface="Calibri"/>
              </a:rPr>
              <a:t>95%</a:t>
            </a:r>
            <a:r>
              <a:rPr sz="1800" b="0">
                <a:solidFill>
                  <a:srgbClr val="0B0B0B"/>
                </a:solidFill>
                <a:latin typeface="Calibri"/>
              </a:rPr>
              <a:t> of Graur’s words in the Kernel</a:t>
            </a:r>
          </a:p>
          <a:p>
            <a:pPr algn="l">
              <a:spcAft>
                <a:spcPts val="810"/>
              </a:spcAft>
            </a:pPr>
            <a:r>
              <a:rPr sz="1800" b="0" i="0">
                <a:solidFill>
                  <a:srgbClr val="52514E"/>
                </a:solidFill>
                <a:latin typeface="Calibri"/>
              </a:rPr>
              <a:t>chance: 33%</a:t>
            </a:r>
          </a:p>
          <a:p>
            <a:pPr algn="l">
              <a:spcAft>
                <a:spcPts val="810"/>
              </a:spcAft>
            </a:pPr>
            <a:r>
              <a:rPr sz="1800" b="0">
                <a:solidFill>
                  <a:srgbClr val="0B0B0B"/>
                </a:solidFill>
                <a:latin typeface="Calibri"/>
              </a:rPr>
              <a:t>Graur’s most certain words are the most central: 97% in the Kernel, 49% in the MinSet (wider groups: 25%,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CASE STUDIES</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Graur’s own examples, seen through the graph</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graphicFrame>
        <p:nvGraphicFramePr>
          <p:cNvPr id="7" name="Table 6"/>
          <p:cNvGraphicFramePr>
            <a:graphicFrameLocks noGrp="1"/>
          </p:cNvGraphicFramePr>
          <p:nvPr/>
        </p:nvGraphicFramePr>
        <p:xfrm>
          <a:off x="640080" y="1691640"/>
          <a:ext cx="7498079" cy="4279392"/>
        </p:xfrm>
        <a:graphic>
          <a:graphicData uri="http://schemas.openxmlformats.org/drawingml/2006/table">
            <a:tbl>
              <a:tblPr firstRow="1" bandRow="1">
                <a:tableStyleId>{5C22544A-7EE6-4342-B048-85BDC9FD1C3A}</a:tableStyleId>
              </a:tblPr>
              <a:tblGrid>
                <a:gridCol w="1874519"/>
                <a:gridCol w="1874519"/>
                <a:gridCol w="1874519"/>
                <a:gridCol w="1874522"/>
              </a:tblGrid>
              <a:tr h="329184">
                <a:tc>
                  <a:txBody>
                    <a:bodyPr/>
                    <a:lstStyle/>
                    <a:p>
                      <a:r>
                        <a:rPr sz="1500" b="1" i="0">
                          <a:solidFill>
                            <a:srgbClr val="FCFCFB"/>
                          </a:solidFill>
                          <a:latin typeface="Calibri"/>
                        </a:rPr>
                        <a:t>word</a:t>
                      </a:r>
                    </a:p>
                  </a:txBody>
                  <a:tcPr>
                    <a:solidFill>
                      <a:srgbClr val="2A78D6"/>
                    </a:solidFill>
                  </a:tcPr>
                </a:tc>
                <a:tc>
                  <a:txBody>
                    <a:bodyPr/>
                    <a:lstStyle/>
                    <a:p>
                      <a:r>
                        <a:rPr sz="1500" b="1" i="0">
                          <a:solidFill>
                            <a:srgbClr val="FCFCFB"/>
                          </a:solidFill>
                          <a:latin typeface="Calibri"/>
                        </a:rPr>
                        <a:t>Graur 1954</a:t>
                      </a:r>
                    </a:p>
                  </a:txBody>
                  <a:tcPr>
                    <a:solidFill>
                      <a:srgbClr val="2A78D6"/>
                    </a:solidFill>
                  </a:tcPr>
                </a:tc>
                <a:tc>
                  <a:txBody>
                    <a:bodyPr/>
                    <a:lstStyle/>
                    <a:p>
                      <a:r>
                        <a:rPr sz="1500" b="1" i="0">
                          <a:solidFill>
                            <a:srgbClr val="FCFCFB"/>
                          </a:solidFill>
                          <a:latin typeface="Calibri"/>
                        </a:rPr>
                        <a:t>graph layer</a:t>
                      </a:r>
                    </a:p>
                  </a:txBody>
                  <a:tcPr>
                    <a:solidFill>
                      <a:srgbClr val="2A78D6"/>
                    </a:solidFill>
                  </a:tcPr>
                </a:tc>
                <a:tc>
                  <a:txBody>
                    <a:bodyPr/>
                    <a:lstStyle/>
                    <a:p>
                      <a:r>
                        <a:rPr sz="1500" b="1" i="0">
                          <a:solidFill>
                            <a:srgbClr val="FCFCFB"/>
                          </a:solidFill>
                          <a:latin typeface="Calibri"/>
                        </a:rPr>
                        <a:t>used in definitions of</a:t>
                      </a:r>
                    </a:p>
                  </a:txBody>
                  <a:tcPr>
                    <a:solidFill>
                      <a:srgbClr val="2A78D6"/>
                    </a:solidFill>
                  </a:tcPr>
                </a:tc>
              </a:tr>
              <a:tr h="329184">
                <a:tc>
                  <a:txBody>
                    <a:bodyPr/>
                    <a:lstStyle/>
                    <a:p>
                      <a:r>
                        <a:rPr sz="1500" b="0" i="1">
                          <a:solidFill>
                            <a:srgbClr val="0B0B0B"/>
                          </a:solidFill>
                          <a:latin typeface="Calibri"/>
                        </a:rPr>
                        <a:t>arbore</a:t>
                      </a:r>
                    </a:p>
                  </a:txBody>
                  <a:tcPr>
                    <a:solidFill>
                      <a:srgbClr val="FCFCFB"/>
                    </a:solidFill>
                  </a:tcPr>
                </a:tc>
                <a:tc>
                  <a:txBody>
                    <a:bodyPr/>
                    <a:lstStyle/>
                    <a:p>
                      <a:r>
                        <a:rPr sz="1500" b="0" i="0">
                          <a:solidFill>
                            <a:srgbClr val="0B0B0B"/>
                          </a:solidFill>
                          <a:latin typeface="Calibri"/>
                        </a:rPr>
                        <a:t>not in the list</a:t>
                      </a:r>
                    </a:p>
                  </a:txBody>
                  <a:tcPr>
                    <a:solidFill>
                      <a:srgbClr val="FCFCFB"/>
                    </a:solidFill>
                  </a:tcPr>
                </a:tc>
                <a:tc>
                  <a:txBody>
                    <a:bodyPr/>
                    <a:lstStyle/>
                    <a:p>
                      <a:r>
                        <a:rPr sz="1500" b="0" i="0">
                          <a:solidFill>
                            <a:srgbClr val="0B0B0B"/>
                          </a:solidFill>
                          <a:latin typeface="Calibri"/>
                        </a:rPr>
                        <a:t>MinSet</a:t>
                      </a:r>
                    </a:p>
                  </a:txBody>
                  <a:tcPr>
                    <a:solidFill>
                      <a:srgbClr val="FCFCFB"/>
                    </a:solidFill>
                  </a:tcPr>
                </a:tc>
                <a:tc>
                  <a:txBody>
                    <a:bodyPr/>
                    <a:lstStyle/>
                    <a:p>
                      <a:r>
                        <a:rPr sz="1500" b="0" i="0">
                          <a:solidFill>
                            <a:srgbClr val="0B0B0B"/>
                          </a:solidFill>
                          <a:latin typeface="Calibri"/>
                        </a:rPr>
                        <a:t>157 headwords</a:t>
                      </a:r>
                    </a:p>
                  </a:txBody>
                  <a:tcPr>
                    <a:solidFill>
                      <a:srgbClr val="FCFCFB"/>
                    </a:solidFill>
                  </a:tcPr>
                </a:tc>
              </a:tr>
              <a:tr h="329184">
                <a:tc>
                  <a:txBody>
                    <a:bodyPr/>
                    <a:lstStyle/>
                    <a:p>
                      <a:r>
                        <a:rPr sz="1500" b="0" i="1">
                          <a:solidFill>
                            <a:srgbClr val="0B0B0B"/>
                          </a:solidFill>
                          <a:latin typeface="Calibri"/>
                        </a:rPr>
                        <a:t>copac</a:t>
                      </a:r>
                    </a:p>
                  </a:txBody>
                  <a:tcPr>
                    <a:solidFill>
                      <a:srgbClr val="F3F2EF"/>
                    </a:solidFill>
                  </a:tcPr>
                </a:tc>
                <a:tc>
                  <a:txBody>
                    <a:bodyPr/>
                    <a:lstStyle/>
                    <a:p>
                      <a:r>
                        <a:rPr sz="1500" b="0" i="0">
                          <a:solidFill>
                            <a:srgbClr val="0B0B0B"/>
                          </a:solidFill>
                          <a:latin typeface="Calibri"/>
                        </a:rPr>
                        <a:t>middle circle</a:t>
                      </a:r>
                    </a:p>
                  </a:txBody>
                  <a:tcPr>
                    <a:solidFill>
                      <a:srgbClr val="F3F2EF"/>
                    </a:solidFill>
                  </a:tcPr>
                </a:tc>
                <a:tc>
                  <a:txBody>
                    <a:bodyPr/>
                    <a:lstStyle/>
                    <a:p>
                      <a:r>
                        <a:rPr sz="1500" b="0" i="0">
                          <a:solidFill>
                            <a:srgbClr val="0B0B0B"/>
                          </a:solidFill>
                          <a:latin typeface="Calibri"/>
                        </a:rPr>
                        <a:t>MinSet</a:t>
                      </a:r>
                    </a:p>
                  </a:txBody>
                  <a:tcPr>
                    <a:solidFill>
                      <a:srgbClr val="F3F2EF"/>
                    </a:solidFill>
                  </a:tcPr>
                </a:tc>
                <a:tc>
                  <a:txBody>
                    <a:bodyPr/>
                    <a:lstStyle/>
                    <a:p>
                      <a:r>
                        <a:rPr sz="1500" b="0" i="0">
                          <a:solidFill>
                            <a:srgbClr val="0B0B0B"/>
                          </a:solidFill>
                          <a:latin typeface="Calibri"/>
                        </a:rPr>
                        <a:t>84 headwords</a:t>
                      </a:r>
                    </a:p>
                  </a:txBody>
                  <a:tcPr>
                    <a:solidFill>
                      <a:srgbClr val="F3F2EF"/>
                    </a:solidFill>
                  </a:tcPr>
                </a:tc>
              </a:tr>
              <a:tr h="329184">
                <a:tc>
                  <a:txBody>
                    <a:bodyPr/>
                    <a:lstStyle/>
                    <a:p>
                      <a:r>
                        <a:rPr sz="1500" b="0" i="1">
                          <a:solidFill>
                            <a:srgbClr val="0B0B0B"/>
                          </a:solidFill>
                          <a:latin typeface="Calibri"/>
                        </a:rPr>
                        <a:t>pom</a:t>
                      </a:r>
                    </a:p>
                  </a:txBody>
                  <a:tcPr>
                    <a:solidFill>
                      <a:srgbClr val="FCFCFB"/>
                    </a:solidFill>
                  </a:tcPr>
                </a:tc>
                <a:tc>
                  <a:txBody>
                    <a:bodyPr/>
                    <a:lstStyle/>
                    <a:p>
                      <a:r>
                        <a:rPr sz="1500" b="0" i="0">
                          <a:solidFill>
                            <a:srgbClr val="0B0B0B"/>
                          </a:solidFill>
                          <a:latin typeface="Calibri"/>
                        </a:rPr>
                        <a:t>most certain</a:t>
                      </a:r>
                    </a:p>
                  </a:txBody>
                  <a:tcPr>
                    <a:solidFill>
                      <a:srgbClr val="FCFCFB"/>
                    </a:solidFill>
                  </a:tcPr>
                </a:tc>
                <a:tc>
                  <a:txBody>
                    <a:bodyPr/>
                    <a:lstStyle/>
                    <a:p>
                      <a:r>
                        <a:rPr sz="1500" b="0" i="0">
                          <a:solidFill>
                            <a:srgbClr val="0B0B0B"/>
                          </a:solidFill>
                          <a:latin typeface="Calibri"/>
                        </a:rPr>
                        <a:t>Core</a:t>
                      </a:r>
                    </a:p>
                  </a:txBody>
                  <a:tcPr>
                    <a:solidFill>
                      <a:srgbClr val="FCFCFB"/>
                    </a:solidFill>
                  </a:tcPr>
                </a:tc>
                <a:tc>
                  <a:txBody>
                    <a:bodyPr/>
                    <a:lstStyle/>
                    <a:p>
                      <a:r>
                        <a:rPr sz="1500" b="0" i="0">
                          <a:solidFill>
                            <a:srgbClr val="0B0B0B"/>
                          </a:solidFill>
                          <a:latin typeface="Calibri"/>
                        </a:rPr>
                        <a:t>52 headwords</a:t>
                      </a:r>
                    </a:p>
                  </a:txBody>
                  <a:tcPr>
                    <a:solidFill>
                      <a:srgbClr val="FCFCFB"/>
                    </a:solidFill>
                  </a:tcPr>
                </a:tc>
              </a:tr>
              <a:tr h="329184">
                <a:tc>
                  <a:txBody>
                    <a:bodyPr/>
                    <a:lstStyle/>
                    <a:p>
                      <a:r>
                        <a:rPr sz="1500" b="0" i="1">
                          <a:solidFill>
                            <a:srgbClr val="0B0B0B"/>
                          </a:solidFill>
                          <a:latin typeface="Calibri"/>
                        </a:rPr>
                        <a:t>femeie</a:t>
                      </a:r>
                    </a:p>
                  </a:txBody>
                  <a:tcPr>
                    <a:solidFill>
                      <a:srgbClr val="F3F2EF"/>
                    </a:solidFill>
                  </a:tcPr>
                </a:tc>
                <a:tc>
                  <a:txBody>
                    <a:bodyPr/>
                    <a:lstStyle/>
                    <a:p>
                      <a:r>
                        <a:rPr sz="1500" b="0" i="0">
                          <a:solidFill>
                            <a:srgbClr val="0B0B0B"/>
                          </a:solidFill>
                          <a:latin typeface="Calibri"/>
                        </a:rPr>
                        <a:t>maximal circle</a:t>
                      </a:r>
                    </a:p>
                  </a:txBody>
                  <a:tcPr>
                    <a:solidFill>
                      <a:srgbClr val="F3F2EF"/>
                    </a:solidFill>
                  </a:tcPr>
                </a:tc>
                <a:tc>
                  <a:txBody>
                    <a:bodyPr/>
                    <a:lstStyle/>
                    <a:p>
                      <a:r>
                        <a:rPr sz="1500" b="0" i="0">
                          <a:solidFill>
                            <a:srgbClr val="0B0B0B"/>
                          </a:solidFill>
                          <a:latin typeface="Calibri"/>
                        </a:rPr>
                        <a:t>MinSet</a:t>
                      </a:r>
                    </a:p>
                  </a:txBody>
                  <a:tcPr>
                    <a:solidFill>
                      <a:srgbClr val="F3F2EF"/>
                    </a:solidFill>
                  </a:tcPr>
                </a:tc>
                <a:tc>
                  <a:txBody>
                    <a:bodyPr/>
                    <a:lstStyle/>
                    <a:p>
                      <a:r>
                        <a:rPr sz="1500" b="0" i="0">
                          <a:solidFill>
                            <a:srgbClr val="0B0B0B"/>
                          </a:solidFill>
                          <a:latin typeface="Calibri"/>
                        </a:rPr>
                        <a:t>467 headwords</a:t>
                      </a:r>
                    </a:p>
                  </a:txBody>
                  <a:tcPr>
                    <a:solidFill>
                      <a:srgbClr val="F3F2EF"/>
                    </a:solidFill>
                  </a:tcPr>
                </a:tc>
              </a:tr>
              <a:tr h="329184">
                <a:tc>
                  <a:txBody>
                    <a:bodyPr/>
                    <a:lstStyle/>
                    <a:p>
                      <a:r>
                        <a:rPr sz="1500" b="0" i="1">
                          <a:solidFill>
                            <a:srgbClr val="0B0B0B"/>
                          </a:solidFill>
                          <a:latin typeface="Calibri"/>
                        </a:rPr>
                        <a:t>nevastă</a:t>
                      </a:r>
                    </a:p>
                  </a:txBody>
                  <a:tcPr>
                    <a:solidFill>
                      <a:srgbClr val="FCFCFB"/>
                    </a:solidFill>
                  </a:tcPr>
                </a:tc>
                <a:tc>
                  <a:txBody>
                    <a:bodyPr/>
                    <a:lstStyle/>
                    <a:p>
                      <a:r>
                        <a:rPr sz="1500" b="0" i="0">
                          <a:solidFill>
                            <a:srgbClr val="0B0B0B"/>
                          </a:solidFill>
                          <a:latin typeface="Calibri"/>
                        </a:rPr>
                        <a:t>not in the list</a:t>
                      </a:r>
                    </a:p>
                  </a:txBody>
                  <a:tcPr>
                    <a:solidFill>
                      <a:srgbClr val="FCFCFB"/>
                    </a:solidFill>
                  </a:tcPr>
                </a:tc>
                <a:tc>
                  <a:txBody>
                    <a:bodyPr/>
                    <a:lstStyle/>
                    <a:p>
                      <a:r>
                        <a:rPr sz="1500" b="0" i="0">
                          <a:solidFill>
                            <a:srgbClr val="0B0B0B"/>
                          </a:solidFill>
                          <a:latin typeface="Calibri"/>
                        </a:rPr>
                        <a:t>Core</a:t>
                      </a:r>
                    </a:p>
                  </a:txBody>
                  <a:tcPr>
                    <a:solidFill>
                      <a:srgbClr val="FCFCFB"/>
                    </a:solidFill>
                  </a:tcPr>
                </a:tc>
                <a:tc>
                  <a:txBody>
                    <a:bodyPr/>
                    <a:lstStyle/>
                    <a:p>
                      <a:r>
                        <a:rPr sz="1500" b="0" i="0">
                          <a:solidFill>
                            <a:srgbClr val="0B0B0B"/>
                          </a:solidFill>
                          <a:latin typeface="Calibri"/>
                        </a:rPr>
                        <a:t>18 headwords</a:t>
                      </a:r>
                    </a:p>
                  </a:txBody>
                  <a:tcPr>
                    <a:solidFill>
                      <a:srgbClr val="FCFCFB"/>
                    </a:solidFill>
                  </a:tcPr>
                </a:tc>
              </a:tr>
              <a:tr h="329184">
                <a:tc>
                  <a:txBody>
                    <a:bodyPr/>
                    <a:lstStyle/>
                    <a:p>
                      <a:r>
                        <a:rPr sz="1500" b="0" i="1">
                          <a:solidFill>
                            <a:srgbClr val="0B0B0B"/>
                          </a:solidFill>
                          <a:latin typeface="Calibri"/>
                        </a:rPr>
                        <a:t>muiere</a:t>
                      </a:r>
                    </a:p>
                  </a:txBody>
                  <a:tcPr>
                    <a:solidFill>
                      <a:srgbClr val="F3F2EF"/>
                    </a:solidFill>
                  </a:tcPr>
                </a:tc>
                <a:tc>
                  <a:txBody>
                    <a:bodyPr/>
                    <a:lstStyle/>
                    <a:p>
                      <a:r>
                        <a:rPr sz="1500" b="0" i="0">
                          <a:solidFill>
                            <a:srgbClr val="0B0B0B"/>
                          </a:solidFill>
                          <a:latin typeface="Calibri"/>
                        </a:rPr>
                        <a:t>maximal circle</a:t>
                      </a:r>
                    </a:p>
                  </a:txBody>
                  <a:tcPr>
                    <a:solidFill>
                      <a:srgbClr val="F3F2EF"/>
                    </a:solidFill>
                  </a:tcPr>
                </a:tc>
                <a:tc>
                  <a:txBody>
                    <a:bodyPr/>
                    <a:lstStyle/>
                    <a:p>
                      <a:r>
                        <a:rPr sz="1500" b="0" i="0">
                          <a:solidFill>
                            <a:srgbClr val="0B0B0B"/>
                          </a:solidFill>
                          <a:latin typeface="Calibri"/>
                        </a:rPr>
                        <a:t>Core</a:t>
                      </a:r>
                    </a:p>
                  </a:txBody>
                  <a:tcPr>
                    <a:solidFill>
                      <a:srgbClr val="F3F2EF"/>
                    </a:solidFill>
                  </a:tcPr>
                </a:tc>
                <a:tc>
                  <a:txBody>
                    <a:bodyPr/>
                    <a:lstStyle/>
                    <a:p>
                      <a:r>
                        <a:rPr sz="1500" b="0" i="0">
                          <a:solidFill>
                            <a:srgbClr val="0B0B0B"/>
                          </a:solidFill>
                          <a:latin typeface="Calibri"/>
                        </a:rPr>
                        <a:t>7 headwords</a:t>
                      </a:r>
                    </a:p>
                  </a:txBody>
                  <a:tcPr>
                    <a:solidFill>
                      <a:srgbClr val="F3F2EF"/>
                    </a:solidFill>
                  </a:tcPr>
                </a:tc>
              </a:tr>
              <a:tr h="329184">
                <a:tc>
                  <a:txBody>
                    <a:bodyPr/>
                    <a:lstStyle/>
                    <a:p>
                      <a:r>
                        <a:rPr sz="1500" b="0" i="1">
                          <a:solidFill>
                            <a:srgbClr val="0B0B0B"/>
                          </a:solidFill>
                          <a:latin typeface="Calibri"/>
                        </a:rPr>
                        <a:t>cioban</a:t>
                      </a:r>
                    </a:p>
                  </a:txBody>
                  <a:tcPr>
                    <a:solidFill>
                      <a:srgbClr val="FCFCFB"/>
                    </a:solidFill>
                  </a:tcPr>
                </a:tc>
                <a:tc>
                  <a:txBody>
                    <a:bodyPr/>
                    <a:lstStyle/>
                    <a:p>
                      <a:r>
                        <a:rPr sz="1500" b="0" i="0">
                          <a:solidFill>
                            <a:srgbClr val="0B0B0B"/>
                          </a:solidFill>
                          <a:latin typeface="Calibri"/>
                        </a:rPr>
                        <a:t>not in the list</a:t>
                      </a:r>
                    </a:p>
                  </a:txBody>
                  <a:tcPr>
                    <a:solidFill>
                      <a:srgbClr val="FCFCFB"/>
                    </a:solidFill>
                  </a:tcPr>
                </a:tc>
                <a:tc>
                  <a:txBody>
                    <a:bodyPr/>
                    <a:lstStyle/>
                    <a:p>
                      <a:r>
                        <a:rPr sz="1500" b="0" i="0">
                          <a:solidFill>
                            <a:srgbClr val="0B0B0B"/>
                          </a:solidFill>
                          <a:latin typeface="Calibri"/>
                        </a:rPr>
                        <a:t>MinSet</a:t>
                      </a:r>
                    </a:p>
                  </a:txBody>
                  <a:tcPr>
                    <a:solidFill>
                      <a:srgbClr val="FCFCFB"/>
                    </a:solidFill>
                  </a:tcPr>
                </a:tc>
                <a:tc>
                  <a:txBody>
                    <a:bodyPr/>
                    <a:lstStyle/>
                    <a:p>
                      <a:r>
                        <a:rPr sz="1500" b="0" i="0">
                          <a:solidFill>
                            <a:srgbClr val="0B0B0B"/>
                          </a:solidFill>
                          <a:latin typeface="Calibri"/>
                        </a:rPr>
                        <a:t>27 headwords</a:t>
                      </a:r>
                    </a:p>
                  </a:txBody>
                  <a:tcPr>
                    <a:solidFill>
                      <a:srgbClr val="FCFCFB"/>
                    </a:solidFill>
                  </a:tcPr>
                </a:tc>
              </a:tr>
              <a:tr h="329184">
                <a:tc>
                  <a:txBody>
                    <a:bodyPr/>
                    <a:lstStyle/>
                    <a:p>
                      <a:r>
                        <a:rPr sz="1500" b="0" i="1">
                          <a:solidFill>
                            <a:srgbClr val="0B0B0B"/>
                          </a:solidFill>
                          <a:latin typeface="Calibri"/>
                        </a:rPr>
                        <a:t>păcurar</a:t>
                      </a:r>
                    </a:p>
                  </a:txBody>
                  <a:tcPr>
                    <a:solidFill>
                      <a:srgbClr val="F3F2EF"/>
                    </a:solidFill>
                  </a:tcPr>
                </a:tc>
                <a:tc>
                  <a:txBody>
                    <a:bodyPr/>
                    <a:lstStyle/>
                    <a:p>
                      <a:r>
                        <a:rPr sz="1500" b="0" i="0">
                          <a:solidFill>
                            <a:srgbClr val="0B0B0B"/>
                          </a:solidFill>
                          <a:latin typeface="Calibri"/>
                        </a:rPr>
                        <a:t>not in the list</a:t>
                      </a:r>
                    </a:p>
                  </a:txBody>
                  <a:tcPr>
                    <a:solidFill>
                      <a:srgbClr val="F3F2EF"/>
                    </a:solidFill>
                  </a:tcPr>
                </a:tc>
                <a:tc>
                  <a:txBody>
                    <a:bodyPr/>
                    <a:lstStyle/>
                    <a:p>
                      <a:r>
                        <a:rPr sz="1500" b="0" i="0">
                          <a:solidFill>
                            <a:srgbClr val="0B0B0B"/>
                          </a:solidFill>
                          <a:latin typeface="Calibri"/>
                        </a:rPr>
                        <a:t>MinSet</a:t>
                      </a:r>
                    </a:p>
                  </a:txBody>
                  <a:tcPr>
                    <a:solidFill>
                      <a:srgbClr val="F3F2EF"/>
                    </a:solidFill>
                  </a:tcPr>
                </a:tc>
                <a:tc>
                  <a:txBody>
                    <a:bodyPr/>
                    <a:lstStyle/>
                    <a:p>
                      <a:r>
                        <a:rPr sz="1500" b="0" i="0">
                          <a:solidFill>
                            <a:srgbClr val="0B0B0B"/>
                          </a:solidFill>
                          <a:latin typeface="Calibri"/>
                        </a:rPr>
                        <a:t>6 headwords</a:t>
                      </a:r>
                    </a:p>
                  </a:txBody>
                  <a:tcPr>
                    <a:solidFill>
                      <a:srgbClr val="F3F2EF"/>
                    </a:solidFill>
                  </a:tcPr>
                </a:tc>
              </a:tr>
              <a:tr h="329184">
                <a:tc>
                  <a:txBody>
                    <a:bodyPr/>
                    <a:lstStyle/>
                    <a:p>
                      <a:r>
                        <a:rPr sz="1500" b="0" i="1">
                          <a:solidFill>
                            <a:srgbClr val="0B0B0B"/>
                          </a:solidFill>
                          <a:latin typeface="Calibri"/>
                        </a:rPr>
                        <a:t>doagă</a:t>
                      </a:r>
                    </a:p>
                  </a:txBody>
                  <a:tcPr>
                    <a:solidFill>
                      <a:srgbClr val="FCFCFB"/>
                    </a:solidFill>
                  </a:tcPr>
                </a:tc>
                <a:tc>
                  <a:txBody>
                    <a:bodyPr/>
                    <a:lstStyle/>
                    <a:p>
                      <a:r>
                        <a:rPr sz="1500" b="0" i="0">
                          <a:solidFill>
                            <a:srgbClr val="0B0B0B"/>
                          </a:solidFill>
                          <a:latin typeface="Calibri"/>
                        </a:rPr>
                        <a:t>middle circle</a:t>
                      </a:r>
                    </a:p>
                  </a:txBody>
                  <a:tcPr>
                    <a:solidFill>
                      <a:srgbClr val="FCFCFB"/>
                    </a:solidFill>
                  </a:tcPr>
                </a:tc>
                <a:tc>
                  <a:txBody>
                    <a:bodyPr/>
                    <a:lstStyle/>
                    <a:p>
                      <a:r>
                        <a:rPr sz="1500" b="0" i="0">
                          <a:solidFill>
                            <a:srgbClr val="0B0B0B"/>
                          </a:solidFill>
                          <a:latin typeface="Calibri"/>
                        </a:rPr>
                        <a:t>Core</a:t>
                      </a:r>
                    </a:p>
                  </a:txBody>
                  <a:tcPr>
                    <a:solidFill>
                      <a:srgbClr val="FCFCFB"/>
                    </a:solidFill>
                  </a:tcPr>
                </a:tc>
                <a:tc>
                  <a:txBody>
                    <a:bodyPr/>
                    <a:lstStyle/>
                    <a:p>
                      <a:r>
                        <a:rPr sz="1500" b="0" i="0">
                          <a:solidFill>
                            <a:srgbClr val="0B0B0B"/>
                          </a:solidFill>
                          <a:latin typeface="Calibri"/>
                        </a:rPr>
                        <a:t>23 headwords</a:t>
                      </a:r>
                    </a:p>
                  </a:txBody>
                  <a:tcPr>
                    <a:solidFill>
                      <a:srgbClr val="FCFCFB"/>
                    </a:solidFill>
                  </a:tcPr>
                </a:tc>
              </a:tr>
              <a:tr h="329184">
                <a:tc>
                  <a:txBody>
                    <a:bodyPr/>
                    <a:lstStyle/>
                    <a:p>
                      <a:r>
                        <a:rPr sz="1500" b="0" i="1">
                          <a:solidFill>
                            <a:srgbClr val="0B0B0B"/>
                          </a:solidFill>
                          <a:latin typeface="Calibri"/>
                        </a:rPr>
                        <a:t>săgeată</a:t>
                      </a:r>
                    </a:p>
                  </a:txBody>
                  <a:tcPr>
                    <a:solidFill>
                      <a:srgbClr val="F3F2EF"/>
                    </a:solidFill>
                  </a:tcPr>
                </a:tc>
                <a:tc>
                  <a:txBody>
                    <a:bodyPr/>
                    <a:lstStyle/>
                    <a:p>
                      <a:r>
                        <a:rPr sz="1500" b="0" i="0">
                          <a:solidFill>
                            <a:srgbClr val="0B0B0B"/>
                          </a:solidFill>
                          <a:latin typeface="Calibri"/>
                        </a:rPr>
                        <a:t>most certain</a:t>
                      </a:r>
                    </a:p>
                  </a:txBody>
                  <a:tcPr>
                    <a:solidFill>
                      <a:srgbClr val="F3F2EF"/>
                    </a:solidFill>
                  </a:tcPr>
                </a:tc>
                <a:tc>
                  <a:txBody>
                    <a:bodyPr/>
                    <a:lstStyle/>
                    <a:p>
                      <a:r>
                        <a:rPr sz="1500" b="0" i="0">
                          <a:solidFill>
                            <a:srgbClr val="0B0B0B"/>
                          </a:solidFill>
                          <a:latin typeface="Calibri"/>
                        </a:rPr>
                        <a:t>Core</a:t>
                      </a:r>
                    </a:p>
                  </a:txBody>
                  <a:tcPr>
                    <a:solidFill>
                      <a:srgbClr val="F3F2EF"/>
                    </a:solidFill>
                  </a:tcPr>
                </a:tc>
                <a:tc>
                  <a:txBody>
                    <a:bodyPr/>
                    <a:lstStyle/>
                    <a:p>
                      <a:r>
                        <a:rPr sz="1500" b="0" i="0">
                          <a:solidFill>
                            <a:srgbClr val="0B0B0B"/>
                          </a:solidFill>
                          <a:latin typeface="Calibri"/>
                        </a:rPr>
                        <a:t>17 headwords</a:t>
                      </a:r>
                    </a:p>
                  </a:txBody>
                  <a:tcPr>
                    <a:solidFill>
                      <a:srgbClr val="F3F2EF"/>
                    </a:solidFill>
                  </a:tcPr>
                </a:tc>
              </a:tr>
              <a:tr h="329184">
                <a:tc>
                  <a:txBody>
                    <a:bodyPr/>
                    <a:lstStyle/>
                    <a:p>
                      <a:r>
                        <a:rPr sz="1500" b="0" i="1">
                          <a:solidFill>
                            <a:srgbClr val="0B0B0B"/>
                          </a:solidFill>
                          <a:latin typeface="Calibri"/>
                        </a:rPr>
                        <a:t>concert</a:t>
                      </a:r>
                    </a:p>
                  </a:txBody>
                  <a:tcPr>
                    <a:solidFill>
                      <a:srgbClr val="FCFCFB"/>
                    </a:solidFill>
                  </a:tcPr>
                </a:tc>
                <a:tc>
                  <a:txBody>
                    <a:bodyPr/>
                    <a:lstStyle/>
                    <a:p>
                      <a:r>
                        <a:rPr sz="1500" b="0" i="0">
                          <a:solidFill>
                            <a:srgbClr val="0B0B0B"/>
                          </a:solidFill>
                          <a:latin typeface="Calibri"/>
                        </a:rPr>
                        <a:t>not in the list</a:t>
                      </a:r>
                    </a:p>
                  </a:txBody>
                  <a:tcPr>
                    <a:solidFill>
                      <a:srgbClr val="FCFCFB"/>
                    </a:solidFill>
                  </a:tcPr>
                </a:tc>
                <a:tc>
                  <a:txBody>
                    <a:bodyPr/>
                    <a:lstStyle/>
                    <a:p>
                      <a:r>
                        <a:rPr sz="1500" b="0" i="0">
                          <a:solidFill>
                            <a:srgbClr val="0B0B0B"/>
                          </a:solidFill>
                          <a:latin typeface="Calibri"/>
                        </a:rPr>
                        <a:t>Core</a:t>
                      </a:r>
                    </a:p>
                  </a:txBody>
                  <a:tcPr>
                    <a:solidFill>
                      <a:srgbClr val="FCFCFB"/>
                    </a:solidFill>
                  </a:tcPr>
                </a:tc>
                <a:tc>
                  <a:txBody>
                    <a:bodyPr/>
                    <a:lstStyle/>
                    <a:p>
                      <a:r>
                        <a:rPr sz="1500" b="0" i="0">
                          <a:solidFill>
                            <a:srgbClr val="0B0B0B"/>
                          </a:solidFill>
                          <a:latin typeface="Calibri"/>
                        </a:rPr>
                        <a:t>15 headwords</a:t>
                      </a:r>
                    </a:p>
                  </a:txBody>
                  <a:tcPr>
                    <a:solidFill>
                      <a:srgbClr val="FCFCFB"/>
                    </a:solidFill>
                  </a:tcPr>
                </a:tc>
              </a:tr>
              <a:tr h="329184">
                <a:tc>
                  <a:txBody>
                    <a:bodyPr/>
                    <a:lstStyle/>
                    <a:p>
                      <a:r>
                        <a:rPr sz="1500" b="0" i="1">
                          <a:solidFill>
                            <a:srgbClr val="0B0B0B"/>
                          </a:solidFill>
                          <a:latin typeface="Calibri"/>
                        </a:rPr>
                        <a:t>axiomă</a:t>
                      </a:r>
                    </a:p>
                  </a:txBody>
                  <a:tcPr>
                    <a:solidFill>
                      <a:srgbClr val="F3F2EF"/>
                    </a:solidFill>
                  </a:tcPr>
                </a:tc>
                <a:tc>
                  <a:txBody>
                    <a:bodyPr/>
                    <a:lstStyle/>
                    <a:p>
                      <a:r>
                        <a:rPr sz="1500" b="0" i="0">
                          <a:solidFill>
                            <a:srgbClr val="0B0B0B"/>
                          </a:solidFill>
                          <a:latin typeface="Calibri"/>
                        </a:rPr>
                        <a:t>not in the list</a:t>
                      </a:r>
                    </a:p>
                  </a:txBody>
                  <a:tcPr>
                    <a:solidFill>
                      <a:srgbClr val="F3F2EF"/>
                    </a:solidFill>
                  </a:tcPr>
                </a:tc>
                <a:tc>
                  <a:txBody>
                    <a:bodyPr/>
                    <a:lstStyle/>
                    <a:p>
                      <a:r>
                        <a:rPr sz="1500" b="0" i="0">
                          <a:solidFill>
                            <a:srgbClr val="0B0B0B"/>
                          </a:solidFill>
                          <a:latin typeface="Calibri"/>
                        </a:rPr>
                        <a:t>outside Kernel</a:t>
                      </a:r>
                    </a:p>
                  </a:txBody>
                  <a:tcPr>
                    <a:solidFill>
                      <a:srgbClr val="F3F2EF"/>
                    </a:solidFill>
                  </a:tcPr>
                </a:tc>
                <a:tc>
                  <a:txBody>
                    <a:bodyPr/>
                    <a:lstStyle/>
                    <a:p>
                      <a:r>
                        <a:rPr sz="1500" b="0" i="0">
                          <a:solidFill>
                            <a:srgbClr val="0B0B0B"/>
                          </a:solidFill>
                          <a:latin typeface="Calibri"/>
                        </a:rPr>
                        <a:t>2 headwords</a:t>
                      </a:r>
                    </a:p>
                  </a:txBody>
                  <a:tcPr>
                    <a:solidFill>
                      <a:srgbClr val="F3F2EF"/>
                    </a:solidFill>
                  </a:tcPr>
                </a:tc>
              </a:tr>
            </a:tbl>
          </a:graphicData>
        </a:graphic>
      </p:graphicFrame>
      <p:sp>
        <p:nvSpPr>
          <p:cNvPr id="8" name="TextBox 7"/>
          <p:cNvSpPr txBox="1"/>
          <p:nvPr/>
        </p:nvSpPr>
        <p:spPr>
          <a:xfrm>
            <a:off x="8503920" y="1783080"/>
            <a:ext cx="3383280" cy="4206240"/>
          </a:xfrm>
          <a:prstGeom prst="rect">
            <a:avLst/>
          </a:prstGeom>
          <a:noFill/>
        </p:spPr>
        <p:txBody>
          <a:bodyPr wrap="square" anchor="t" lIns="45720" rIns="45720">
            <a:spAutoFit/>
          </a:bodyPr>
          <a:lstStyle/>
          <a:p>
            <a:pPr algn="l">
              <a:spcAft>
                <a:spcPts val="765"/>
              </a:spcAft>
            </a:pPr>
            <a:r>
              <a:rPr sz="1700" b="1" i="1">
                <a:solidFill>
                  <a:srgbClr val="0B0B0B"/>
                </a:solidFill>
                <a:latin typeface="Calibri"/>
              </a:rPr>
              <a:t>arbore</a:t>
            </a:r>
            <a:r>
              <a:rPr sz="1700" b="0">
                <a:solidFill>
                  <a:srgbClr val="0B0B0B"/>
                </a:solidFill>
                <a:latin typeface="Calibri"/>
              </a:rPr>
              <a:t> was excluded by Graur because it competes with copac, pom, lemn (p. 19).</a:t>
            </a:r>
          </a:p>
          <a:p>
            <a:pPr algn="l">
              <a:spcAft>
                <a:spcPts val="765"/>
              </a:spcAft>
            </a:pPr>
            <a:r>
              <a:rPr sz="1700" b="0" i="0">
                <a:solidFill>
                  <a:srgbClr val="2A78D6"/>
                </a:solidFill>
                <a:latin typeface="Calibri"/>
              </a:rPr>
              <a:t>Yet the DEX uses arbore in 157 definitions, copac in 84.</a:t>
            </a:r>
          </a:p>
          <a:p>
            <a:pPr algn="l">
              <a:spcAft>
                <a:spcPts val="765"/>
              </a:spcAft>
            </a:pPr>
            <a:r>
              <a:rPr sz="1700" b="0">
                <a:solidFill>
                  <a:srgbClr val="0B0B0B"/>
                </a:solidFill>
                <a:latin typeface="Calibri"/>
              </a:rPr>
              <a:t>The dictionary’s defining preferences and the speakers’ usage Graur described are different things.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RESULT 4</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Two cores: inherited words and working words</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pic>
        <p:nvPicPr>
          <p:cNvPr id="7" name="Picture 6" descr="fig4_etymology.png"/>
          <p:cNvPicPr>
            <a:picLocks noChangeAspect="1"/>
          </p:cNvPicPr>
          <p:nvPr/>
        </p:nvPicPr>
        <p:blipFill>
          <a:blip r:embed="rId3"/>
          <a:stretch>
            <a:fillRect/>
          </a:stretch>
        </p:blipFill>
        <p:spPr>
          <a:xfrm>
            <a:off x="548640" y="1691640"/>
            <a:ext cx="7498079" cy="2659678"/>
          </a:xfrm>
          <a:prstGeom prst="rect">
            <a:avLst/>
          </a:prstGeom>
        </p:spPr>
      </p:pic>
      <p:sp>
        <p:nvSpPr>
          <p:cNvPr id="8" name="TextBox 7"/>
          <p:cNvSpPr txBox="1"/>
          <p:nvPr/>
        </p:nvSpPr>
        <p:spPr>
          <a:xfrm>
            <a:off x="8321040" y="1783080"/>
            <a:ext cx="3566160" cy="4206240"/>
          </a:xfrm>
          <a:prstGeom prst="rect">
            <a:avLst/>
          </a:prstGeom>
          <a:noFill/>
        </p:spPr>
        <p:txBody>
          <a:bodyPr wrap="square" anchor="t" lIns="45720" rIns="45720">
            <a:spAutoFit/>
          </a:bodyPr>
          <a:lstStyle/>
          <a:p>
            <a:pPr algn="l">
              <a:spcAft>
                <a:spcPts val="765"/>
              </a:spcAft>
            </a:pPr>
            <a:r>
              <a:rPr sz="1700" b="1" i="0">
                <a:solidFill>
                  <a:srgbClr val="0B0B0B"/>
                </a:solidFill>
                <a:latin typeface="Calibri"/>
              </a:rPr>
              <a:t>Graur’s core: </a:t>
            </a:r>
            <a:r>
              <a:rPr sz="1700" b="0">
                <a:solidFill>
                  <a:srgbClr val="0B0B0B"/>
                </a:solidFill>
                <a:latin typeface="Calibri"/>
              </a:rPr>
              <a:t>stable, inherited (Latin + Slavic).</a:t>
            </a:r>
          </a:p>
          <a:p>
            <a:pPr algn="l">
              <a:spcAft>
                <a:spcPts val="765"/>
              </a:spcAft>
            </a:pPr>
            <a:r>
              <a:rPr sz="1700" b="1" i="0">
                <a:solidFill>
                  <a:srgbClr val="0B0B0B"/>
                </a:solidFill>
                <a:latin typeface="Calibri"/>
              </a:rPr>
              <a:t>The DEX’s working core: </a:t>
            </a:r>
            <a:r>
              <a:rPr sz="1700" b="0">
                <a:solidFill>
                  <a:srgbClr val="0B0B0B"/>
                </a:solidFill>
                <a:latin typeface="Calibri"/>
              </a:rPr>
              <a:t>learned words: acțiune, rezultat, persoană, substanță…</a:t>
            </a:r>
          </a:p>
          <a:p>
            <a:pPr algn="l">
              <a:spcAft>
                <a:spcPts val="765"/>
              </a:spcAft>
            </a:pPr>
            <a:r>
              <a:rPr sz="1700" b="0">
                <a:solidFill>
                  <a:srgbClr val="0B0B0B"/>
                </a:solidFill>
                <a:latin typeface="Calibri"/>
              </a:rPr>
              <a:t>Only 437 of Graur’s words are among the 1,419 most-used defining words.</a:t>
            </a:r>
          </a:p>
          <a:p>
            <a:pPr algn="l">
              <a:spcAft>
                <a:spcPts val="765"/>
              </a:spcAft>
            </a:pPr>
            <a:r>
              <a:rPr sz="1700" b="1" i="0">
                <a:solidFill>
                  <a:srgbClr val="0B0B0B"/>
                </a:solidFill>
                <a:latin typeface="Calibri"/>
              </a:rPr>
              <a:t>Outside the Kernel: </a:t>
            </a:r>
            <a:r>
              <a:rPr sz="1700" b="0" i="1">
                <a:solidFill>
                  <a:srgbClr val="0B0B0B"/>
                </a:solidFill>
                <a:latin typeface="Calibri"/>
              </a:rPr>
              <a:t>arici, mânz, țap, țarc, teasc, topor, prag…</a:t>
            </a:r>
            <a:r>
              <a:rPr sz="1700" b="0">
                <a:solidFill>
                  <a:srgbClr val="0B0B0B"/>
                </a:solidFill>
                <a:latin typeface="Calibri"/>
              </a:rPr>
              <a:t> (rural words that define nothing else)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DISCUSSION</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Implications for Romanian lexicography and linguistics</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Rounded Rectangle 6"/>
          <p:cNvSpPr/>
          <p:nvPr/>
        </p:nvSpPr>
        <p:spPr>
          <a:xfrm>
            <a:off x="640080" y="1783080"/>
            <a:ext cx="164592" cy="105156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37360"/>
            <a:ext cx="10424160" cy="1188720"/>
          </a:xfrm>
          <a:prstGeom prst="rect">
            <a:avLst/>
          </a:prstGeom>
          <a:noFill/>
        </p:spPr>
        <p:txBody>
          <a:bodyPr wrap="square" anchor="t" lIns="45720" rIns="45720">
            <a:spAutoFit/>
          </a:bodyPr>
          <a:lstStyle/>
          <a:p>
            <a:pPr algn="l">
              <a:spcAft>
                <a:spcPts val="855"/>
              </a:spcAft>
            </a:pPr>
            <a:r>
              <a:rPr sz="2400" b="1" i="0">
                <a:solidFill>
                  <a:srgbClr val="0B0B0B"/>
                </a:solidFill>
                <a:latin typeface="Calibri"/>
              </a:rPr>
              <a:t>A map of circularity</a:t>
            </a:r>
          </a:p>
          <a:p>
            <a:pPr algn="l">
              <a:spcAft>
                <a:spcPts val="855"/>
              </a:spcAft>
            </a:pPr>
            <a:r>
              <a:rPr sz="1900" b="0">
                <a:solidFill>
                  <a:srgbClr val="0B0B0B"/>
                </a:solidFill>
                <a:latin typeface="Calibri"/>
              </a:rPr>
              <a:t>the list of mutually defining pairs shows where the DEX relies on synonymy; useful for a revised or learner’s dictionary.</a:t>
            </a:r>
          </a:p>
        </p:txBody>
      </p:sp>
      <p:sp>
        <p:nvSpPr>
          <p:cNvPr id="9" name="Rounded Rectangle 8"/>
          <p:cNvSpPr/>
          <p:nvPr/>
        </p:nvSpPr>
        <p:spPr>
          <a:xfrm>
            <a:off x="640080" y="3154680"/>
            <a:ext cx="164592" cy="105156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08960"/>
            <a:ext cx="10424160" cy="1188720"/>
          </a:xfrm>
          <a:prstGeom prst="rect">
            <a:avLst/>
          </a:prstGeom>
          <a:noFill/>
        </p:spPr>
        <p:txBody>
          <a:bodyPr wrap="square" anchor="t" lIns="45720" rIns="45720">
            <a:spAutoFit/>
          </a:bodyPr>
          <a:lstStyle/>
          <a:p>
            <a:pPr algn="l">
              <a:spcAft>
                <a:spcPts val="855"/>
              </a:spcAft>
            </a:pPr>
            <a:r>
              <a:rPr sz="2400" b="1" i="0">
                <a:solidFill>
                  <a:srgbClr val="0B0B0B"/>
                </a:solidFill>
                <a:latin typeface="Calibri"/>
              </a:rPr>
              <a:t>A test of a classical idea</a:t>
            </a:r>
          </a:p>
          <a:p>
            <a:pPr algn="l">
              <a:spcAft>
                <a:spcPts val="855"/>
              </a:spcAft>
            </a:pPr>
            <a:r>
              <a:rPr sz="1900" b="0">
                <a:solidFill>
                  <a:srgbClr val="0B0B0B"/>
                </a:solidFill>
                <a:latin typeface="Calibri"/>
              </a:rPr>
              <a:t>Graur’s intuition is confirmed with data he never had, and placed in context.</a:t>
            </a:r>
          </a:p>
        </p:txBody>
      </p:sp>
      <p:sp>
        <p:nvSpPr>
          <p:cNvPr id="11" name="Rounded Rectangle 10"/>
          <p:cNvSpPr/>
          <p:nvPr/>
        </p:nvSpPr>
        <p:spPr>
          <a:xfrm>
            <a:off x="640080" y="4526280"/>
            <a:ext cx="164592" cy="105156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480560"/>
            <a:ext cx="10424160" cy="1188720"/>
          </a:xfrm>
          <a:prstGeom prst="rect">
            <a:avLst/>
          </a:prstGeom>
          <a:noFill/>
        </p:spPr>
        <p:txBody>
          <a:bodyPr wrap="square" anchor="t" lIns="45720" rIns="45720">
            <a:spAutoFit/>
          </a:bodyPr>
          <a:lstStyle/>
          <a:p>
            <a:pPr algn="l">
              <a:spcAft>
                <a:spcPts val="855"/>
              </a:spcAft>
            </a:pPr>
            <a:r>
              <a:rPr sz="2400" b="1" i="0">
                <a:solidFill>
                  <a:srgbClr val="0B0B0B"/>
                </a:solidFill>
                <a:latin typeface="Calibri"/>
              </a:rPr>
              <a:t>AI as an instrument</a:t>
            </a:r>
          </a:p>
          <a:p>
            <a:pPr algn="l">
              <a:spcAft>
                <a:spcPts val="855"/>
              </a:spcAft>
            </a:pPr>
            <a:r>
              <a:rPr sz="1900" b="0">
                <a:solidFill>
                  <a:srgbClr val="0B0B0B"/>
                </a:solidFill>
                <a:latin typeface="Calibri"/>
              </a:rPr>
              <a:t>a narrow, checkable task at full scale; reliability measured; conclusions tested without the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HOW CONFIDENT ARE WE?</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Strength of the evidence</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Rounded Rectangle 6"/>
          <p:cNvSpPr/>
          <p:nvPr/>
        </p:nvSpPr>
        <p:spPr>
          <a:xfrm>
            <a:off x="640080" y="1737360"/>
            <a:ext cx="1645920" cy="54864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CFCFB"/>
                </a:solidFill>
                <a:latin typeface="Calibri"/>
              </a:rPr>
              <a:t>Strong</a:t>
            </a:r>
          </a:p>
        </p:txBody>
      </p:sp>
      <p:sp>
        <p:nvSpPr>
          <p:cNvPr id="8" name="TextBox 7"/>
          <p:cNvSpPr txBox="1"/>
          <p:nvPr/>
        </p:nvSpPr>
        <p:spPr>
          <a:xfrm>
            <a:off x="2514600" y="1783080"/>
            <a:ext cx="9326880" cy="548640"/>
          </a:xfrm>
          <a:prstGeom prst="rect">
            <a:avLst/>
          </a:prstGeom>
          <a:noFill/>
        </p:spPr>
        <p:txBody>
          <a:bodyPr wrap="square" anchor="t" lIns="45720" rIns="45720">
            <a:spAutoFit/>
          </a:bodyPr>
          <a:lstStyle/>
          <a:p>
            <a:pPr algn="l">
              <a:spcAft>
                <a:spcPts val="810"/>
              </a:spcAft>
            </a:pPr>
            <a:r>
              <a:rPr sz="1800" b="0">
                <a:solidFill>
                  <a:srgbClr val="0B0B0B"/>
                </a:solidFill>
                <a:latin typeface="Calibri"/>
              </a:rPr>
              <a:t>The DEX is much more circular than English dictionaries; the cause is reciprocal (synonym) definition.</a:t>
            </a:r>
          </a:p>
        </p:txBody>
      </p:sp>
      <p:sp>
        <p:nvSpPr>
          <p:cNvPr id="9" name="Rounded Rectangle 8"/>
          <p:cNvSpPr/>
          <p:nvPr/>
        </p:nvSpPr>
        <p:spPr>
          <a:xfrm>
            <a:off x="640080" y="2450591"/>
            <a:ext cx="1645920" cy="54864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CFCFB"/>
                </a:solidFill>
                <a:latin typeface="Calibri"/>
              </a:rPr>
              <a:t>Strong</a:t>
            </a:r>
          </a:p>
        </p:txBody>
      </p:sp>
      <p:sp>
        <p:nvSpPr>
          <p:cNvPr id="10" name="TextBox 9"/>
          <p:cNvSpPr txBox="1"/>
          <p:nvPr/>
        </p:nvSpPr>
        <p:spPr>
          <a:xfrm>
            <a:off x="2514600" y="2496311"/>
            <a:ext cx="9326880" cy="548640"/>
          </a:xfrm>
          <a:prstGeom prst="rect">
            <a:avLst/>
          </a:prstGeom>
          <a:noFill/>
        </p:spPr>
        <p:txBody>
          <a:bodyPr wrap="square" anchor="t" lIns="45720" rIns="45720">
            <a:spAutoFit/>
          </a:bodyPr>
          <a:lstStyle/>
          <a:p>
            <a:pPr algn="l">
              <a:spcAft>
                <a:spcPts val="810"/>
              </a:spcAft>
            </a:pPr>
            <a:r>
              <a:rPr sz="1800" b="0">
                <a:solidFill>
                  <a:srgbClr val="0B0B0B"/>
                </a:solidFill>
                <a:latin typeface="Calibri"/>
              </a:rPr>
              <a:t>Swadesh and Graur words are concentrated in the Kernel (p &lt; 10⁻²⁰⁰).</a:t>
            </a:r>
          </a:p>
        </p:txBody>
      </p:sp>
      <p:sp>
        <p:nvSpPr>
          <p:cNvPr id="11" name="Rounded Rectangle 10"/>
          <p:cNvSpPr/>
          <p:nvPr/>
        </p:nvSpPr>
        <p:spPr>
          <a:xfrm>
            <a:off x="640080" y="3163824"/>
            <a:ext cx="1645920" cy="548640"/>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CFCFB"/>
                </a:solidFill>
                <a:latin typeface="Calibri"/>
              </a:rPr>
              <a:t>Good</a:t>
            </a:r>
          </a:p>
        </p:txBody>
      </p:sp>
      <p:sp>
        <p:nvSpPr>
          <p:cNvPr id="12" name="TextBox 11"/>
          <p:cNvSpPr txBox="1"/>
          <p:nvPr/>
        </p:nvSpPr>
        <p:spPr>
          <a:xfrm>
            <a:off x="2514600" y="3209544"/>
            <a:ext cx="9326880" cy="548640"/>
          </a:xfrm>
          <a:prstGeom prst="rect">
            <a:avLst/>
          </a:prstGeom>
          <a:noFill/>
        </p:spPr>
        <p:txBody>
          <a:bodyPr wrap="square" anchor="t" lIns="45720" rIns="45720">
            <a:spAutoFit/>
          </a:bodyPr>
          <a:lstStyle/>
          <a:p>
            <a:pPr algn="l">
              <a:spcAft>
                <a:spcPts val="810"/>
              </a:spcAft>
            </a:pPr>
            <a:r>
              <a:rPr sz="1800" b="0">
                <a:solidFill>
                  <a:srgbClr val="0B0B0B"/>
                </a:solidFill>
                <a:latin typeface="Calibri"/>
              </a:rPr>
              <a:t>MinSet size: proven bounds 6,193–6,325, a gap of 2.1%; not computed exactly.</a:t>
            </a:r>
          </a:p>
        </p:txBody>
      </p:sp>
      <p:sp>
        <p:nvSpPr>
          <p:cNvPr id="13" name="Rounded Rectangle 12"/>
          <p:cNvSpPr/>
          <p:nvPr/>
        </p:nvSpPr>
        <p:spPr>
          <a:xfrm>
            <a:off x="640080" y="3877056"/>
            <a:ext cx="1645920" cy="548640"/>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CFCFB"/>
                </a:solidFill>
                <a:latin typeface="Calibri"/>
              </a:rPr>
              <a:t>Good</a:t>
            </a:r>
          </a:p>
        </p:txBody>
      </p:sp>
      <p:sp>
        <p:nvSpPr>
          <p:cNvPr id="14" name="TextBox 13"/>
          <p:cNvSpPr txBox="1"/>
          <p:nvPr/>
        </p:nvSpPr>
        <p:spPr>
          <a:xfrm>
            <a:off x="2514600" y="3922776"/>
            <a:ext cx="9326880" cy="548640"/>
          </a:xfrm>
          <a:prstGeom prst="rect">
            <a:avLst/>
          </a:prstGeom>
          <a:noFill/>
        </p:spPr>
        <p:txBody>
          <a:bodyPr wrap="square" anchor="t" lIns="45720" rIns="45720">
            <a:spAutoFit/>
          </a:bodyPr>
          <a:lstStyle/>
          <a:p>
            <a:pPr algn="l">
              <a:spcAft>
                <a:spcPts val="810"/>
              </a:spcAft>
            </a:pPr>
            <a:r>
              <a:rPr sz="1800" b="0">
                <a:solidFill>
                  <a:srgbClr val="0B0B0B"/>
                </a:solidFill>
                <a:latin typeface="Calibri"/>
              </a:rPr>
              <a:t>Graur’s most certain words are the most central; two marks out of 1,419 uncertain in our transcription.</a:t>
            </a:r>
          </a:p>
        </p:txBody>
      </p:sp>
      <p:sp>
        <p:nvSpPr>
          <p:cNvPr id="15" name="Rounded Rectangle 14"/>
          <p:cNvSpPr/>
          <p:nvPr/>
        </p:nvSpPr>
        <p:spPr>
          <a:xfrm>
            <a:off x="640080" y="4590288"/>
            <a:ext cx="1645920" cy="548640"/>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CFCFB"/>
                </a:solidFill>
                <a:latin typeface="Calibri"/>
              </a:rPr>
              <a:t>Indicative</a:t>
            </a:r>
          </a:p>
        </p:txBody>
      </p:sp>
      <p:sp>
        <p:nvSpPr>
          <p:cNvPr id="16" name="TextBox 15"/>
          <p:cNvSpPr txBox="1"/>
          <p:nvPr/>
        </p:nvSpPr>
        <p:spPr>
          <a:xfrm>
            <a:off x="2514600" y="4636008"/>
            <a:ext cx="9326880" cy="548640"/>
          </a:xfrm>
          <a:prstGeom prst="rect">
            <a:avLst/>
          </a:prstGeom>
          <a:noFill/>
        </p:spPr>
        <p:txBody>
          <a:bodyPr wrap="square" anchor="t" lIns="45720" rIns="45720">
            <a:spAutoFit/>
          </a:bodyPr>
          <a:lstStyle/>
          <a:p>
            <a:pPr algn="l">
              <a:spcAft>
                <a:spcPts val="810"/>
              </a:spcAft>
            </a:pPr>
            <a:r>
              <a:rPr sz="1800" b="0">
                <a:solidFill>
                  <a:srgbClr val="0B0B0B"/>
                </a:solidFill>
                <a:latin typeface="Calibri"/>
              </a:rPr>
              <a:t>Etymological contrast: part of the vocabulary is unclassified.</a:t>
            </a:r>
          </a:p>
        </p:txBody>
      </p:sp>
      <p:sp>
        <p:nvSpPr>
          <p:cNvPr id="17" name="Rounded Rectangle 16"/>
          <p:cNvSpPr/>
          <p:nvPr/>
        </p:nvSpPr>
        <p:spPr>
          <a:xfrm>
            <a:off x="640080" y="5303520"/>
            <a:ext cx="1645920" cy="548640"/>
          </a:xfrm>
          <a:prstGeom prst="roundRect">
            <a:avLst/>
          </a:prstGeom>
          <a:solidFill>
            <a:srgbClr val="8A8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CFCFB"/>
                </a:solidFill>
                <a:latin typeface="Calibri"/>
              </a:rPr>
              <a:t>Scope</a:t>
            </a:r>
          </a:p>
        </p:txBody>
      </p:sp>
      <p:sp>
        <p:nvSpPr>
          <p:cNvPr id="18" name="TextBox 17"/>
          <p:cNvSpPr txBox="1"/>
          <p:nvPr/>
        </p:nvSpPr>
        <p:spPr>
          <a:xfrm>
            <a:off x="2514600" y="5349240"/>
            <a:ext cx="9326880" cy="548640"/>
          </a:xfrm>
          <a:prstGeom prst="rect">
            <a:avLst/>
          </a:prstGeom>
          <a:noFill/>
        </p:spPr>
        <p:txBody>
          <a:bodyPr wrap="square" anchor="t" lIns="45720" rIns="45720">
            <a:spAutoFit/>
          </a:bodyPr>
          <a:lstStyle/>
          <a:p>
            <a:pPr algn="l">
              <a:spcAft>
                <a:spcPts val="810"/>
              </a:spcAft>
            </a:pPr>
            <a:r>
              <a:rPr sz="1800" b="0">
                <a:solidFill>
                  <a:srgbClr val="0B0B0B"/>
                </a:solidFill>
                <a:latin typeface="Calibri"/>
              </a:rPr>
              <a:t>One dictionary, one edition, first senses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pic>
        <p:nvPicPr>
          <p:cNvPr id="2" name="Picture 1" descr="logo_consilr.png"/>
          <p:cNvPicPr>
            <a:picLocks noChangeAspect="1"/>
          </p:cNvPicPr>
          <p:nvPr/>
        </p:nvPicPr>
        <p:blipFill>
          <a:blip r:embed="rId2"/>
          <a:stretch>
            <a:fillRect/>
          </a:stretch>
        </p:blipFill>
        <p:spPr>
          <a:xfrm>
            <a:off x="10591495" y="256032"/>
            <a:ext cx="1311965" cy="502920"/>
          </a:xfrm>
          <a:prstGeom prst="rect">
            <a:avLst/>
          </a:prstGeom>
        </p:spPr>
      </p:pic>
      <p:sp>
        <p:nvSpPr>
          <p:cNvPr id="3" name="TextBox 2"/>
          <p:cNvSpPr txBox="1"/>
          <p:nvPr/>
        </p:nvSpPr>
        <p:spPr>
          <a:xfrm>
            <a:off x="640080" y="320040"/>
            <a:ext cx="9144000" cy="365760"/>
          </a:xfrm>
          <a:prstGeom prst="rect">
            <a:avLst/>
          </a:prstGeom>
          <a:noFill/>
        </p:spPr>
        <p:txBody>
          <a:bodyPr wrap="square" anchor="t" lIns="45720" rIns="45720">
            <a:spAutoFit/>
          </a:bodyPr>
          <a:lstStyle/>
          <a:p>
            <a:pPr algn="l">
              <a:spcAft>
                <a:spcPts val="585"/>
              </a:spcAft>
            </a:pPr>
            <a:r>
              <a:rPr sz="1300" b="1">
                <a:solidFill>
                  <a:srgbClr val="2A78D6"/>
                </a:solidFill>
                <a:latin typeface="Calibri"/>
              </a:rPr>
              <a:t>SUMMARY</a:t>
            </a:r>
          </a:p>
        </p:txBody>
      </p:sp>
      <p:sp>
        <p:nvSpPr>
          <p:cNvPr id="4" name="TextBox 3"/>
          <p:cNvSpPr txBox="1"/>
          <p:nvPr/>
        </p:nvSpPr>
        <p:spPr>
          <a:xfrm>
            <a:off x="640080" y="621792"/>
            <a:ext cx="10241280" cy="914400"/>
          </a:xfrm>
          <a:prstGeom prst="rect">
            <a:avLst/>
          </a:prstGeom>
          <a:noFill/>
        </p:spPr>
        <p:txBody>
          <a:bodyPr wrap="square" anchor="t" lIns="45720" rIns="45720">
            <a:spAutoFit/>
          </a:bodyPr>
          <a:lstStyle/>
          <a:p>
            <a:pPr algn="l">
              <a:spcAft>
                <a:spcPts val="1440"/>
              </a:spcAft>
            </a:pPr>
            <a:r>
              <a:rPr sz="3200" b="1">
                <a:solidFill>
                  <a:srgbClr val="0B0B0B"/>
                </a:solidFill>
                <a:latin typeface="Calibri"/>
              </a:rPr>
              <a:t>Conclusion</a:t>
            </a:r>
          </a:p>
        </p:txBody>
      </p:sp>
      <p:cxnSp>
        <p:nvCxnSpPr>
          <p:cNvPr id="5" name="Connector 4"/>
          <p:cNvCxnSpPr/>
          <p:nvPr/>
        </p:nvCxnSpPr>
        <p:spPr>
          <a:xfrm>
            <a:off x="640080" y="6446520"/>
            <a:ext cx="10911535" cy="0"/>
          </a:xfrm>
          <a:prstGeom prst="line">
            <a:avLst/>
          </a:prstGeom>
          <a:ln w="9525">
            <a:solidFill>
              <a:srgbClr val="E6E5E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473952"/>
            <a:ext cx="8229600" cy="320040"/>
          </a:xfrm>
          <a:prstGeom prst="rect">
            <a:avLst/>
          </a:prstGeom>
          <a:noFill/>
        </p:spPr>
        <p:txBody>
          <a:bodyPr wrap="square" anchor="t" lIns="45720" rIns="45720">
            <a:spAutoFit/>
          </a:bodyPr>
          <a:lstStyle/>
          <a:p>
            <a:pPr algn="l">
              <a:spcAft>
                <a:spcPts val="495"/>
              </a:spcAft>
            </a:pPr>
            <a:r>
              <a:rPr sz="1100" b="0">
                <a:solidFill>
                  <a:srgbClr val="8A8984"/>
                </a:solidFill>
                <a:latin typeface="Calibri"/>
              </a:rPr>
              <a:t>Belciug &amp; Pelican · The Hidden Core of Romanian · ConsILR 2026</a:t>
            </a:r>
          </a:p>
        </p:txBody>
      </p:sp>
      <p:sp>
        <p:nvSpPr>
          <p:cNvPr id="7" name="TextBox 6"/>
          <p:cNvSpPr txBox="1"/>
          <p:nvPr/>
        </p:nvSpPr>
        <p:spPr>
          <a:xfrm>
            <a:off x="640080" y="1737360"/>
            <a:ext cx="10972800" cy="3657600"/>
          </a:xfrm>
          <a:prstGeom prst="rect">
            <a:avLst/>
          </a:prstGeom>
          <a:noFill/>
        </p:spPr>
        <p:txBody>
          <a:bodyPr wrap="square" anchor="t" lIns="45720" rIns="45720">
            <a:spAutoFit/>
          </a:bodyPr>
          <a:lstStyle/>
          <a:p>
            <a:pPr algn="l">
              <a:spcAft>
                <a:spcPts val="990"/>
              </a:spcAft>
            </a:pPr>
            <a:r>
              <a:rPr sz="2200" b="0">
                <a:solidFill>
                  <a:srgbClr val="0B0B0B"/>
                </a:solidFill>
                <a:latin typeface="Calibri"/>
              </a:rPr>
              <a:t>A third of the DEX forms a Kernel; about one word in ten must be known in advance to read the whole dictionary.</a:t>
            </a:r>
          </a:p>
          <a:p>
            <a:pPr algn="l">
              <a:spcAft>
                <a:spcPts val="990"/>
              </a:spcAft>
            </a:pPr>
            <a:r>
              <a:rPr sz="2200" b="0">
                <a:solidFill>
                  <a:srgbClr val="0B0B0B"/>
                </a:solidFill>
                <a:latin typeface="Calibri"/>
              </a:rPr>
              <a:t>About ten times the English proportion, mainly because the DEX defines words by synonyms.</a:t>
            </a:r>
          </a:p>
          <a:p>
            <a:pPr algn="l">
              <a:spcAft>
                <a:spcPts val="990"/>
              </a:spcAft>
            </a:pPr>
            <a:r>
              <a:rPr sz="2200" b="0">
                <a:solidFill>
                  <a:srgbClr val="0B0B0B"/>
                </a:solidFill>
                <a:latin typeface="Calibri"/>
              </a:rPr>
              <a:t>The Kernel contains almost all Swadesh and Graur words; Graur’s most certain words are the most central.</a:t>
            </a:r>
          </a:p>
          <a:p>
            <a:pPr algn="l">
              <a:spcAft>
                <a:spcPts val="990"/>
              </a:spcAft>
            </a:pPr>
            <a:r>
              <a:rPr sz="2200" b="0">
                <a:solidFill>
                  <a:srgbClr val="0B0B0B"/>
                </a:solidFill>
                <a:latin typeface="Calibri"/>
              </a:rPr>
              <a:t>A second, modern core of learned words does the defining.</a:t>
            </a:r>
          </a:p>
          <a:p>
            <a:pPr algn="l">
              <a:spcAft>
                <a:spcPts val="990"/>
              </a:spcAft>
            </a:pPr>
            <a:r>
              <a:rPr sz="2200" b="1" i="0">
                <a:solidFill>
                  <a:srgbClr val="2A78D6"/>
                </a:solidFill>
                <a:latin typeface="Calibri"/>
              </a:rPr>
              <a:t>We release the graph, its layers, the mutual pairs and the code.</a:t>
            </a:r>
          </a:p>
        </p:txBody>
      </p:sp>
      <p:sp>
        <p:nvSpPr>
          <p:cNvPr id="8" name="TextBox 7"/>
          <p:cNvSpPr txBox="1"/>
          <p:nvPr/>
        </p:nvSpPr>
        <p:spPr>
          <a:xfrm>
            <a:off x="640080" y="5577840"/>
            <a:ext cx="10972800" cy="457200"/>
          </a:xfrm>
          <a:prstGeom prst="rect">
            <a:avLst/>
          </a:prstGeom>
          <a:noFill/>
        </p:spPr>
        <p:txBody>
          <a:bodyPr wrap="square" anchor="t" lIns="45720" rIns="45720">
            <a:spAutoFit/>
          </a:bodyPr>
          <a:lstStyle/>
          <a:p>
            <a:pPr algn="l">
              <a:spcAft>
                <a:spcPts val="675"/>
              </a:spcAft>
            </a:pPr>
            <a:r>
              <a:rPr sz="1500" b="0">
                <a:solidFill>
                  <a:srgbClr val="52514E"/>
                </a:solidFill>
                <a:latin typeface="Calibri"/>
              </a:rPr>
              <a:t>vlad.belciug@365.univ-ovidius.ro · epelican@univ-ovidius.ro · Thanks to the dexonline volunteers.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